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layfair Display Bold" charset="1" panose="00000000000000000000"/>
      <p:regular r:id="rId18"/>
    </p:embeddedFont>
    <p:embeddedFont>
      <p:font typeface="Playfair Display Italics" charset="1" panose="00000000000000000000"/>
      <p:regular r:id="rId19"/>
    </p:embeddedFont>
    <p:embeddedFont>
      <p:font typeface="Lato Bold" charset="1" panose="020F0502020204030203"/>
      <p:regular r:id="rId20"/>
    </p:embeddedFont>
    <p:embeddedFont>
      <p:font typeface="Lato" charset="1" panose="020F0502020204030203"/>
      <p:regular r:id="rId21"/>
    </p:embeddedFont>
    <p:embeddedFont>
      <p:font typeface="Playfair Display"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 Id="rId5" Target="../media/image11.jpeg" Type="http://schemas.openxmlformats.org/officeDocument/2006/relationships/image"/><Relationship Id="rId6"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jpeg" Type="http://schemas.openxmlformats.org/officeDocument/2006/relationships/image"/><Relationship Id="rId4" Target="../media/image14.jpeg" Type="http://schemas.openxmlformats.org/officeDocument/2006/relationships/image"/><Relationship Id="rId5" Target="../media/image15.jpeg" Type="http://schemas.openxmlformats.org/officeDocument/2006/relationships/image"/><Relationship Id="rId6"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17.jpeg" Type="http://schemas.openxmlformats.org/officeDocument/2006/relationships/image"/><Relationship Id="rId4" Target="../media/image18.jpeg" Type="http://schemas.openxmlformats.org/officeDocument/2006/relationships/image"/><Relationship Id="rId5" Target="../media/image19.jpeg" Type="http://schemas.openxmlformats.org/officeDocument/2006/relationships/image"/><Relationship Id="rId6"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 Id="rId3" Target="../media/image25.jpeg" Type="http://schemas.openxmlformats.org/officeDocument/2006/relationships/image"/><Relationship Id="rId4"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1760972"/>
          </a:xfrm>
          <a:custGeom>
            <a:avLst/>
            <a:gdLst/>
            <a:ahLst/>
            <a:cxnLst/>
            <a:rect r="r" b="b" t="t" l="l"/>
            <a:pathLst>
              <a:path h="11760972" w="18288000">
                <a:moveTo>
                  <a:pt x="0" y="0"/>
                </a:moveTo>
                <a:lnTo>
                  <a:pt x="18288000" y="0"/>
                </a:lnTo>
                <a:lnTo>
                  <a:pt x="18288000" y="11760972"/>
                </a:lnTo>
                <a:lnTo>
                  <a:pt x="0" y="11760972"/>
                </a:lnTo>
                <a:lnTo>
                  <a:pt x="0" y="0"/>
                </a:lnTo>
                <a:close/>
              </a:path>
            </a:pathLst>
          </a:custGeom>
          <a:blipFill>
            <a:blip r:embed="rId2">
              <a:alphaModFix amt="40000"/>
            </a:blip>
            <a:stretch>
              <a:fillRect l="-14392" t="-224" r="-448" b="-224"/>
            </a:stretch>
          </a:blipFill>
        </p:spPr>
      </p:sp>
      <p:sp>
        <p:nvSpPr>
          <p:cNvPr name="TextBox 3" id="3"/>
          <p:cNvSpPr txBox="true"/>
          <p:nvPr/>
        </p:nvSpPr>
        <p:spPr>
          <a:xfrm rot="0">
            <a:off x="4750447" y="2928016"/>
            <a:ext cx="8787105" cy="940435"/>
          </a:xfrm>
          <a:prstGeom prst="rect">
            <a:avLst/>
          </a:prstGeom>
        </p:spPr>
        <p:txBody>
          <a:bodyPr anchor="t" rtlCol="false" tIns="0" lIns="0" bIns="0" rIns="0">
            <a:spAutoFit/>
          </a:bodyPr>
          <a:lstStyle/>
          <a:p>
            <a:pPr algn="ctr">
              <a:lnSpc>
                <a:spcPts val="7069"/>
              </a:lnSpc>
            </a:pPr>
            <a:r>
              <a:rPr lang="en-US" b="true" sz="6999" spc="-335">
                <a:solidFill>
                  <a:srgbClr val="FFB000"/>
                </a:solidFill>
                <a:latin typeface="Playfair Display Bold"/>
                <a:ea typeface="Playfair Display Bold"/>
                <a:cs typeface="Playfair Display Bold"/>
                <a:sym typeface="Playfair Display Bold"/>
              </a:rPr>
              <a:t>VISUAL EYES</a:t>
            </a:r>
          </a:p>
        </p:txBody>
      </p:sp>
      <p:sp>
        <p:nvSpPr>
          <p:cNvPr name="TextBox 4" id="4"/>
          <p:cNvSpPr txBox="true"/>
          <p:nvPr/>
        </p:nvSpPr>
        <p:spPr>
          <a:xfrm rot="0">
            <a:off x="5986121" y="3877976"/>
            <a:ext cx="6315757" cy="517525"/>
          </a:xfrm>
          <a:prstGeom prst="rect">
            <a:avLst/>
          </a:prstGeom>
        </p:spPr>
        <p:txBody>
          <a:bodyPr anchor="t" rtlCol="false" tIns="0" lIns="0" bIns="0" rIns="0">
            <a:spAutoFit/>
          </a:bodyPr>
          <a:lstStyle/>
          <a:p>
            <a:pPr algn="ctr">
              <a:lnSpc>
                <a:spcPts val="4025"/>
              </a:lnSpc>
            </a:pPr>
            <a:r>
              <a:rPr lang="en-US" b="true" sz="3500">
                <a:solidFill>
                  <a:srgbClr val="FFFFF0"/>
                </a:solidFill>
                <a:latin typeface="Playfair Display Bold"/>
                <a:ea typeface="Playfair Display Bold"/>
                <a:cs typeface="Playfair Display Bold"/>
                <a:sym typeface="Playfair Display Bold"/>
              </a:rPr>
              <a:t>INTERIORS</a:t>
            </a:r>
          </a:p>
        </p:txBody>
      </p:sp>
      <p:sp>
        <p:nvSpPr>
          <p:cNvPr name="TextBox 5" id="5"/>
          <p:cNvSpPr txBox="true"/>
          <p:nvPr/>
        </p:nvSpPr>
        <p:spPr>
          <a:xfrm rot="0">
            <a:off x="5986121" y="5153025"/>
            <a:ext cx="6315757" cy="1022350"/>
          </a:xfrm>
          <a:prstGeom prst="rect">
            <a:avLst/>
          </a:prstGeom>
        </p:spPr>
        <p:txBody>
          <a:bodyPr anchor="t" rtlCol="false" tIns="0" lIns="0" bIns="0" rIns="0">
            <a:spAutoFit/>
          </a:bodyPr>
          <a:lstStyle/>
          <a:p>
            <a:pPr algn="ctr">
              <a:lnSpc>
                <a:spcPts val="4025"/>
              </a:lnSpc>
            </a:pPr>
            <a:r>
              <a:rPr lang="en-US" sz="3500" i="true">
                <a:solidFill>
                  <a:srgbClr val="FFFFF0"/>
                </a:solidFill>
                <a:latin typeface="Playfair Display Italics"/>
                <a:ea typeface="Playfair Display Italics"/>
                <a:cs typeface="Playfair Display Italics"/>
                <a:sym typeface="Playfair Display Italics"/>
              </a:rPr>
              <a:t>Creative Interiors, Lasting Impression</a:t>
            </a:r>
          </a:p>
        </p:txBody>
      </p:sp>
      <p:sp>
        <p:nvSpPr>
          <p:cNvPr name="Freeform 6" id="6"/>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3">
              <a:alphaModFix amt="30000"/>
            </a:blip>
            <a:stretch>
              <a:fillRect l="0" t="-59181"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sp>
        <p:nvSpPr>
          <p:cNvPr name="TextBox 2" id="2"/>
          <p:cNvSpPr txBox="true"/>
          <p:nvPr/>
        </p:nvSpPr>
        <p:spPr>
          <a:xfrm rot="0">
            <a:off x="6100422" y="1081987"/>
            <a:ext cx="6087156" cy="74299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TABLE OF</a:t>
            </a:r>
          </a:p>
        </p:txBody>
      </p:sp>
      <p:sp>
        <p:nvSpPr>
          <p:cNvPr name="TextBox 3" id="3"/>
          <p:cNvSpPr txBox="true"/>
          <p:nvPr/>
        </p:nvSpPr>
        <p:spPr>
          <a:xfrm rot="0">
            <a:off x="6650124" y="1739225"/>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Contents</a:t>
            </a:r>
          </a:p>
        </p:txBody>
      </p:sp>
      <p:sp>
        <p:nvSpPr>
          <p:cNvPr name="TextBox 4" id="4"/>
          <p:cNvSpPr txBox="true"/>
          <p:nvPr/>
        </p:nvSpPr>
        <p:spPr>
          <a:xfrm rot="0">
            <a:off x="5530112" y="4501365"/>
            <a:ext cx="3548145" cy="296037"/>
          </a:xfrm>
          <a:prstGeom prst="rect">
            <a:avLst/>
          </a:prstGeom>
        </p:spPr>
        <p:txBody>
          <a:bodyPr anchor="t" rtlCol="false" tIns="0" lIns="0" bIns="0" rIns="0">
            <a:spAutoFit/>
          </a:bodyPr>
          <a:lstStyle/>
          <a:p>
            <a:pPr algn="ctr">
              <a:lnSpc>
                <a:spcPts val="2304"/>
              </a:lnSpc>
            </a:pPr>
            <a:r>
              <a:rPr lang="en-US" sz="1800">
                <a:solidFill>
                  <a:srgbClr val="FFFFF0"/>
                </a:solidFill>
                <a:latin typeface="Lato"/>
                <a:ea typeface="Lato"/>
                <a:cs typeface="Lato"/>
                <a:sym typeface="Lato"/>
              </a:rPr>
              <a:t>About our company</a:t>
            </a:r>
          </a:p>
        </p:txBody>
      </p:sp>
      <p:sp>
        <p:nvSpPr>
          <p:cNvPr name="TextBox 5" id="5"/>
          <p:cNvSpPr txBox="true"/>
          <p:nvPr/>
        </p:nvSpPr>
        <p:spPr>
          <a:xfrm rot="0">
            <a:off x="5530112" y="5565775"/>
            <a:ext cx="3548145" cy="296037"/>
          </a:xfrm>
          <a:prstGeom prst="rect">
            <a:avLst/>
          </a:prstGeom>
        </p:spPr>
        <p:txBody>
          <a:bodyPr anchor="t" rtlCol="false" tIns="0" lIns="0" bIns="0" rIns="0">
            <a:spAutoFit/>
          </a:bodyPr>
          <a:lstStyle/>
          <a:p>
            <a:pPr algn="ctr">
              <a:lnSpc>
                <a:spcPts val="2304"/>
              </a:lnSpc>
            </a:pPr>
            <a:r>
              <a:rPr lang="en-US" sz="1800">
                <a:solidFill>
                  <a:srgbClr val="FFFFF0"/>
                </a:solidFill>
                <a:latin typeface="Lato"/>
                <a:ea typeface="Lato"/>
                <a:cs typeface="Lato"/>
                <a:sym typeface="Lato"/>
              </a:rPr>
              <a:t>Meet our team</a:t>
            </a:r>
          </a:p>
        </p:txBody>
      </p:sp>
      <p:sp>
        <p:nvSpPr>
          <p:cNvPr name="TextBox 6" id="6"/>
          <p:cNvSpPr txBox="true"/>
          <p:nvPr/>
        </p:nvSpPr>
        <p:spPr>
          <a:xfrm rot="0">
            <a:off x="5530112" y="6676898"/>
            <a:ext cx="3548145" cy="296037"/>
          </a:xfrm>
          <a:prstGeom prst="rect">
            <a:avLst/>
          </a:prstGeom>
        </p:spPr>
        <p:txBody>
          <a:bodyPr anchor="t" rtlCol="false" tIns="0" lIns="0" bIns="0" rIns="0">
            <a:spAutoFit/>
          </a:bodyPr>
          <a:lstStyle/>
          <a:p>
            <a:pPr algn="ctr">
              <a:lnSpc>
                <a:spcPts val="2304"/>
              </a:lnSpc>
            </a:pPr>
            <a:r>
              <a:rPr lang="en-US" sz="1800">
                <a:solidFill>
                  <a:srgbClr val="FFFFF0"/>
                </a:solidFill>
                <a:latin typeface="Lato"/>
                <a:ea typeface="Lato"/>
                <a:cs typeface="Lato"/>
                <a:sym typeface="Lato"/>
              </a:rPr>
              <a:t>What our clients say</a:t>
            </a:r>
          </a:p>
        </p:txBody>
      </p:sp>
      <p:sp>
        <p:nvSpPr>
          <p:cNvPr name="TextBox 7" id="7"/>
          <p:cNvSpPr txBox="true"/>
          <p:nvPr/>
        </p:nvSpPr>
        <p:spPr>
          <a:xfrm rot="0">
            <a:off x="5661598" y="7715885"/>
            <a:ext cx="3548145" cy="296037"/>
          </a:xfrm>
          <a:prstGeom prst="rect">
            <a:avLst/>
          </a:prstGeom>
        </p:spPr>
        <p:txBody>
          <a:bodyPr anchor="t" rtlCol="false" tIns="0" lIns="0" bIns="0" rIns="0">
            <a:spAutoFit/>
          </a:bodyPr>
          <a:lstStyle/>
          <a:p>
            <a:pPr algn="ctr">
              <a:lnSpc>
                <a:spcPts val="2304"/>
              </a:lnSpc>
            </a:pPr>
            <a:r>
              <a:rPr lang="en-US" sz="1800">
                <a:solidFill>
                  <a:srgbClr val="FFFFF0"/>
                </a:solidFill>
                <a:latin typeface="Lato"/>
                <a:ea typeface="Lato"/>
                <a:cs typeface="Lato"/>
                <a:sym typeface="Lato"/>
              </a:rPr>
              <a:t>Our finished projects (3D)</a:t>
            </a:r>
          </a:p>
        </p:txBody>
      </p:sp>
      <p:sp>
        <p:nvSpPr>
          <p:cNvPr name="TextBox 8" id="8"/>
          <p:cNvSpPr txBox="true"/>
          <p:nvPr/>
        </p:nvSpPr>
        <p:spPr>
          <a:xfrm rot="0">
            <a:off x="6579794" y="4066389"/>
            <a:ext cx="1448780" cy="482601"/>
          </a:xfrm>
          <a:prstGeom prst="rect">
            <a:avLst/>
          </a:prstGeom>
        </p:spPr>
        <p:txBody>
          <a:bodyPr anchor="t" rtlCol="false" tIns="0" lIns="0" bIns="0" rIns="0">
            <a:spAutoFit/>
          </a:bodyPr>
          <a:lstStyle/>
          <a:p>
            <a:pPr algn="ctr">
              <a:lnSpc>
                <a:spcPts val="3400"/>
              </a:lnSpc>
            </a:pPr>
            <a:r>
              <a:rPr lang="en-US" b="true" sz="4000" spc="-192">
                <a:solidFill>
                  <a:srgbClr val="FFFFF0"/>
                </a:solidFill>
                <a:latin typeface="Lato Bold"/>
                <a:ea typeface="Lato Bold"/>
                <a:cs typeface="Lato Bold"/>
                <a:sym typeface="Lato Bold"/>
              </a:rPr>
              <a:t>3</a:t>
            </a:r>
          </a:p>
        </p:txBody>
      </p:sp>
      <p:sp>
        <p:nvSpPr>
          <p:cNvPr name="TextBox 9" id="9"/>
          <p:cNvSpPr txBox="true"/>
          <p:nvPr/>
        </p:nvSpPr>
        <p:spPr>
          <a:xfrm rot="0">
            <a:off x="6579794" y="5126713"/>
            <a:ext cx="1448780" cy="482601"/>
          </a:xfrm>
          <a:prstGeom prst="rect">
            <a:avLst/>
          </a:prstGeom>
        </p:spPr>
        <p:txBody>
          <a:bodyPr anchor="t" rtlCol="false" tIns="0" lIns="0" bIns="0" rIns="0">
            <a:spAutoFit/>
          </a:bodyPr>
          <a:lstStyle/>
          <a:p>
            <a:pPr algn="ctr">
              <a:lnSpc>
                <a:spcPts val="3400"/>
              </a:lnSpc>
            </a:pPr>
            <a:r>
              <a:rPr lang="en-US" b="true" sz="4000" spc="-192">
                <a:solidFill>
                  <a:srgbClr val="FFFFF0"/>
                </a:solidFill>
                <a:latin typeface="Lato Bold"/>
                <a:ea typeface="Lato Bold"/>
                <a:cs typeface="Lato Bold"/>
                <a:sym typeface="Lato Bold"/>
              </a:rPr>
              <a:t>4</a:t>
            </a:r>
          </a:p>
        </p:txBody>
      </p:sp>
      <p:sp>
        <p:nvSpPr>
          <p:cNvPr name="TextBox 10" id="10"/>
          <p:cNvSpPr txBox="true"/>
          <p:nvPr/>
        </p:nvSpPr>
        <p:spPr>
          <a:xfrm rot="0">
            <a:off x="6579794" y="6229223"/>
            <a:ext cx="1448780" cy="482601"/>
          </a:xfrm>
          <a:prstGeom prst="rect">
            <a:avLst/>
          </a:prstGeom>
        </p:spPr>
        <p:txBody>
          <a:bodyPr anchor="t" rtlCol="false" tIns="0" lIns="0" bIns="0" rIns="0">
            <a:spAutoFit/>
          </a:bodyPr>
          <a:lstStyle/>
          <a:p>
            <a:pPr algn="ctr">
              <a:lnSpc>
                <a:spcPts val="3400"/>
              </a:lnSpc>
            </a:pPr>
            <a:r>
              <a:rPr lang="en-US" b="true" sz="4000" spc="-192">
                <a:solidFill>
                  <a:srgbClr val="FFFFF0"/>
                </a:solidFill>
                <a:latin typeface="Lato Bold"/>
                <a:ea typeface="Lato Bold"/>
                <a:cs typeface="Lato Bold"/>
                <a:sym typeface="Lato Bold"/>
              </a:rPr>
              <a:t>5</a:t>
            </a:r>
          </a:p>
        </p:txBody>
      </p:sp>
      <p:sp>
        <p:nvSpPr>
          <p:cNvPr name="TextBox 11" id="11"/>
          <p:cNvSpPr txBox="true"/>
          <p:nvPr/>
        </p:nvSpPr>
        <p:spPr>
          <a:xfrm rot="0">
            <a:off x="6579794" y="7302246"/>
            <a:ext cx="1448780" cy="482601"/>
          </a:xfrm>
          <a:prstGeom prst="rect">
            <a:avLst/>
          </a:prstGeom>
        </p:spPr>
        <p:txBody>
          <a:bodyPr anchor="t" rtlCol="false" tIns="0" lIns="0" bIns="0" rIns="0">
            <a:spAutoFit/>
          </a:bodyPr>
          <a:lstStyle/>
          <a:p>
            <a:pPr algn="ctr">
              <a:lnSpc>
                <a:spcPts val="3400"/>
              </a:lnSpc>
            </a:pPr>
            <a:r>
              <a:rPr lang="en-US" b="true" sz="4000" spc="-192">
                <a:solidFill>
                  <a:srgbClr val="FFFFF0"/>
                </a:solidFill>
                <a:latin typeface="Lato Bold"/>
                <a:ea typeface="Lato Bold"/>
                <a:cs typeface="Lato Bold"/>
                <a:sym typeface="Lato Bold"/>
              </a:rPr>
              <a:t>6-8</a:t>
            </a:r>
          </a:p>
        </p:txBody>
      </p:sp>
      <p:sp>
        <p:nvSpPr>
          <p:cNvPr name="TextBox 12" id="12"/>
          <p:cNvSpPr txBox="true"/>
          <p:nvPr/>
        </p:nvSpPr>
        <p:spPr>
          <a:xfrm rot="0">
            <a:off x="9209743" y="4520415"/>
            <a:ext cx="3548145" cy="581787"/>
          </a:xfrm>
          <a:prstGeom prst="rect">
            <a:avLst/>
          </a:prstGeom>
        </p:spPr>
        <p:txBody>
          <a:bodyPr anchor="t" rtlCol="false" tIns="0" lIns="0" bIns="0" rIns="0">
            <a:spAutoFit/>
          </a:bodyPr>
          <a:lstStyle/>
          <a:p>
            <a:pPr algn="ctr">
              <a:lnSpc>
                <a:spcPts val="2304"/>
              </a:lnSpc>
            </a:pPr>
            <a:r>
              <a:rPr lang="en-US" sz="1800">
                <a:solidFill>
                  <a:srgbClr val="FFFFF0"/>
                </a:solidFill>
                <a:latin typeface="Lato"/>
                <a:ea typeface="Lato"/>
                <a:cs typeface="Lato"/>
                <a:sym typeface="Lato"/>
              </a:rPr>
              <a:t>Our finished Projects (2D)</a:t>
            </a:r>
          </a:p>
          <a:p>
            <a:pPr algn="ctr">
              <a:lnSpc>
                <a:spcPts val="2304"/>
              </a:lnSpc>
            </a:pPr>
          </a:p>
        </p:txBody>
      </p:sp>
      <p:sp>
        <p:nvSpPr>
          <p:cNvPr name="TextBox 13" id="13"/>
          <p:cNvSpPr txBox="true"/>
          <p:nvPr/>
        </p:nvSpPr>
        <p:spPr>
          <a:xfrm rot="0">
            <a:off x="9209743" y="5565775"/>
            <a:ext cx="3548145" cy="296037"/>
          </a:xfrm>
          <a:prstGeom prst="rect">
            <a:avLst/>
          </a:prstGeom>
        </p:spPr>
        <p:txBody>
          <a:bodyPr anchor="t" rtlCol="false" tIns="0" lIns="0" bIns="0" rIns="0">
            <a:spAutoFit/>
          </a:bodyPr>
          <a:lstStyle/>
          <a:p>
            <a:pPr algn="ctr">
              <a:lnSpc>
                <a:spcPts val="2304"/>
              </a:lnSpc>
            </a:pPr>
            <a:r>
              <a:rPr lang="en-US" sz="1800">
                <a:solidFill>
                  <a:srgbClr val="FFFFF0"/>
                </a:solidFill>
                <a:latin typeface="Lato"/>
                <a:ea typeface="Lato"/>
                <a:cs typeface="Lato"/>
                <a:sym typeface="Lato"/>
              </a:rPr>
              <a:t>Services we Offer</a:t>
            </a:r>
          </a:p>
        </p:txBody>
      </p:sp>
      <p:sp>
        <p:nvSpPr>
          <p:cNvPr name="TextBox 14" id="14"/>
          <p:cNvSpPr txBox="true"/>
          <p:nvPr/>
        </p:nvSpPr>
        <p:spPr>
          <a:xfrm rot="0">
            <a:off x="10259425" y="4066389"/>
            <a:ext cx="1448780" cy="482601"/>
          </a:xfrm>
          <a:prstGeom prst="rect">
            <a:avLst/>
          </a:prstGeom>
        </p:spPr>
        <p:txBody>
          <a:bodyPr anchor="t" rtlCol="false" tIns="0" lIns="0" bIns="0" rIns="0">
            <a:spAutoFit/>
          </a:bodyPr>
          <a:lstStyle/>
          <a:p>
            <a:pPr algn="ctr">
              <a:lnSpc>
                <a:spcPts val="3400"/>
              </a:lnSpc>
            </a:pPr>
            <a:r>
              <a:rPr lang="en-US" b="true" sz="4000" spc="-192">
                <a:solidFill>
                  <a:srgbClr val="FFFFF0"/>
                </a:solidFill>
                <a:latin typeface="Lato Bold"/>
                <a:ea typeface="Lato Bold"/>
                <a:cs typeface="Lato Bold"/>
                <a:sym typeface="Lato Bold"/>
              </a:rPr>
              <a:t>9</a:t>
            </a:r>
          </a:p>
        </p:txBody>
      </p:sp>
      <p:sp>
        <p:nvSpPr>
          <p:cNvPr name="TextBox 15" id="15"/>
          <p:cNvSpPr txBox="true"/>
          <p:nvPr/>
        </p:nvSpPr>
        <p:spPr>
          <a:xfrm rot="0">
            <a:off x="10259425" y="5126713"/>
            <a:ext cx="1448780" cy="482601"/>
          </a:xfrm>
          <a:prstGeom prst="rect">
            <a:avLst/>
          </a:prstGeom>
        </p:spPr>
        <p:txBody>
          <a:bodyPr anchor="t" rtlCol="false" tIns="0" lIns="0" bIns="0" rIns="0">
            <a:spAutoFit/>
          </a:bodyPr>
          <a:lstStyle/>
          <a:p>
            <a:pPr algn="ctr">
              <a:lnSpc>
                <a:spcPts val="3400"/>
              </a:lnSpc>
            </a:pPr>
            <a:r>
              <a:rPr lang="en-US" b="true" sz="4000" spc="-192">
                <a:solidFill>
                  <a:srgbClr val="FFFFF0"/>
                </a:solidFill>
                <a:latin typeface="Lato Bold"/>
                <a:ea typeface="Lato Bold"/>
                <a:cs typeface="Lato Bold"/>
                <a:sym typeface="Lato Bold"/>
              </a:rPr>
              <a:t>10</a:t>
            </a:r>
          </a:p>
        </p:txBody>
      </p:sp>
      <p:sp>
        <p:nvSpPr>
          <p:cNvPr name="AutoShape 16" id="16"/>
          <p:cNvSpPr/>
          <p:nvPr/>
        </p:nvSpPr>
        <p:spPr>
          <a:xfrm>
            <a:off x="-620740" y="9239250"/>
            <a:ext cx="19529480" cy="0"/>
          </a:xfrm>
          <a:prstGeom prst="line">
            <a:avLst/>
          </a:prstGeom>
          <a:ln cap="flat" w="19050">
            <a:solidFill>
              <a:srgbClr val="FFB000"/>
            </a:solidFill>
            <a:prstDash val="solid"/>
            <a:headEnd type="none" len="sm" w="sm"/>
            <a:tailEnd type="none" len="sm" w="sm"/>
          </a:ln>
        </p:spPr>
      </p:sp>
      <p:sp>
        <p:nvSpPr>
          <p:cNvPr name="AutoShape 17" id="17"/>
          <p:cNvSpPr/>
          <p:nvPr/>
        </p:nvSpPr>
        <p:spPr>
          <a:xfrm flipH="true">
            <a:off x="1047750" y="-291618"/>
            <a:ext cx="0" cy="10870237"/>
          </a:xfrm>
          <a:prstGeom prst="line">
            <a:avLst/>
          </a:prstGeom>
          <a:ln cap="flat" w="19050">
            <a:solidFill>
              <a:srgbClr val="FFB000"/>
            </a:solidFill>
            <a:prstDash val="solid"/>
            <a:headEnd type="none" len="sm" w="sm"/>
            <a:tailEnd type="none" len="sm" w="sm"/>
          </a:ln>
        </p:spPr>
      </p:sp>
      <p:sp>
        <p:nvSpPr>
          <p:cNvPr name="AutoShape 18" id="18"/>
          <p:cNvSpPr/>
          <p:nvPr/>
        </p:nvSpPr>
        <p:spPr>
          <a:xfrm>
            <a:off x="17259300" y="-291618"/>
            <a:ext cx="0" cy="10870237"/>
          </a:xfrm>
          <a:prstGeom prst="line">
            <a:avLst/>
          </a:prstGeom>
          <a:ln cap="flat" w="19050">
            <a:solidFill>
              <a:srgbClr val="FFB000"/>
            </a:solidFill>
            <a:prstDash val="solid"/>
            <a:headEnd type="none" len="sm" w="sm"/>
            <a:tailEnd type="none" len="sm" w="sm"/>
          </a:ln>
        </p:spPr>
      </p:sp>
      <p:sp>
        <p:nvSpPr>
          <p:cNvPr name="AutoShape 19" id="19"/>
          <p:cNvSpPr/>
          <p:nvPr/>
        </p:nvSpPr>
        <p:spPr>
          <a:xfrm>
            <a:off x="-468340" y="2980158"/>
            <a:ext cx="19529480" cy="0"/>
          </a:xfrm>
          <a:prstGeom prst="line">
            <a:avLst/>
          </a:prstGeom>
          <a:ln cap="flat" w="19050">
            <a:solidFill>
              <a:srgbClr val="FFB000"/>
            </a:solidFill>
            <a:prstDash val="solid"/>
            <a:headEnd type="none" len="sm" w="sm"/>
            <a:tailEnd type="none" len="sm" w="sm"/>
          </a:ln>
        </p:spPr>
      </p:sp>
      <p:sp>
        <p:nvSpPr>
          <p:cNvPr name="TextBox 20" id="20"/>
          <p:cNvSpPr txBox="true"/>
          <p:nvPr/>
        </p:nvSpPr>
        <p:spPr>
          <a:xfrm rot="0">
            <a:off x="9209743" y="6676898"/>
            <a:ext cx="3548145" cy="296037"/>
          </a:xfrm>
          <a:prstGeom prst="rect">
            <a:avLst/>
          </a:prstGeom>
        </p:spPr>
        <p:txBody>
          <a:bodyPr anchor="t" rtlCol="false" tIns="0" lIns="0" bIns="0" rIns="0">
            <a:spAutoFit/>
          </a:bodyPr>
          <a:lstStyle/>
          <a:p>
            <a:pPr algn="ctr">
              <a:lnSpc>
                <a:spcPts val="2304"/>
              </a:lnSpc>
            </a:pPr>
            <a:r>
              <a:rPr lang="en-US" sz="1800">
                <a:solidFill>
                  <a:srgbClr val="FFFFF0"/>
                </a:solidFill>
                <a:latin typeface="Lato"/>
                <a:ea typeface="Lato"/>
                <a:cs typeface="Lato"/>
                <a:sym typeface="Lato"/>
              </a:rPr>
              <a:t>Contact us</a:t>
            </a:r>
          </a:p>
        </p:txBody>
      </p:sp>
      <p:sp>
        <p:nvSpPr>
          <p:cNvPr name="TextBox 21" id="21"/>
          <p:cNvSpPr txBox="true"/>
          <p:nvPr/>
        </p:nvSpPr>
        <p:spPr>
          <a:xfrm rot="0">
            <a:off x="10259425" y="6251447"/>
            <a:ext cx="1448780" cy="482601"/>
          </a:xfrm>
          <a:prstGeom prst="rect">
            <a:avLst/>
          </a:prstGeom>
        </p:spPr>
        <p:txBody>
          <a:bodyPr anchor="t" rtlCol="false" tIns="0" lIns="0" bIns="0" rIns="0">
            <a:spAutoFit/>
          </a:bodyPr>
          <a:lstStyle/>
          <a:p>
            <a:pPr algn="ctr">
              <a:lnSpc>
                <a:spcPts val="3400"/>
              </a:lnSpc>
            </a:pPr>
            <a:r>
              <a:rPr lang="en-US" b="true" sz="4000" spc="-192">
                <a:solidFill>
                  <a:srgbClr val="FFFFF0"/>
                </a:solidFill>
                <a:latin typeface="Lato Bold"/>
                <a:ea typeface="Lato Bold"/>
                <a:cs typeface="Lato Bold"/>
                <a:sym typeface="Lato Bold"/>
              </a:rPr>
              <a:t>11</a:t>
            </a:r>
          </a:p>
        </p:txBody>
      </p:sp>
      <p:sp>
        <p:nvSpPr>
          <p:cNvPr name="TextBox 22" id="22"/>
          <p:cNvSpPr txBox="true"/>
          <p:nvPr/>
        </p:nvSpPr>
        <p:spPr>
          <a:xfrm rot="0">
            <a:off x="9209743" y="7727696"/>
            <a:ext cx="3548145" cy="296037"/>
          </a:xfrm>
          <a:prstGeom prst="rect">
            <a:avLst/>
          </a:prstGeom>
        </p:spPr>
        <p:txBody>
          <a:bodyPr anchor="t" rtlCol="false" tIns="0" lIns="0" bIns="0" rIns="0">
            <a:spAutoFit/>
          </a:bodyPr>
          <a:lstStyle/>
          <a:p>
            <a:pPr algn="ctr">
              <a:lnSpc>
                <a:spcPts val="2304"/>
              </a:lnSpc>
            </a:pPr>
            <a:r>
              <a:rPr lang="en-US" sz="1800">
                <a:solidFill>
                  <a:srgbClr val="FFFFF0"/>
                </a:solidFill>
                <a:latin typeface="Lato"/>
                <a:ea typeface="Lato"/>
                <a:cs typeface="Lato"/>
                <a:sym typeface="Lato"/>
              </a:rPr>
              <a:t>Thank you</a:t>
            </a:r>
          </a:p>
        </p:txBody>
      </p:sp>
      <p:sp>
        <p:nvSpPr>
          <p:cNvPr name="TextBox 23" id="23"/>
          <p:cNvSpPr txBox="true"/>
          <p:nvPr/>
        </p:nvSpPr>
        <p:spPr>
          <a:xfrm rot="0">
            <a:off x="10259425" y="7302246"/>
            <a:ext cx="1448780" cy="482601"/>
          </a:xfrm>
          <a:prstGeom prst="rect">
            <a:avLst/>
          </a:prstGeom>
        </p:spPr>
        <p:txBody>
          <a:bodyPr anchor="t" rtlCol="false" tIns="0" lIns="0" bIns="0" rIns="0">
            <a:spAutoFit/>
          </a:bodyPr>
          <a:lstStyle/>
          <a:p>
            <a:pPr algn="ctr">
              <a:lnSpc>
                <a:spcPts val="3400"/>
              </a:lnSpc>
            </a:pPr>
            <a:r>
              <a:rPr lang="en-US" b="true" sz="4000" spc="-192">
                <a:solidFill>
                  <a:srgbClr val="FFFFF0"/>
                </a:solidFill>
                <a:latin typeface="Lato Bold"/>
                <a:ea typeface="Lato Bold"/>
                <a:cs typeface="Lato Bold"/>
                <a:sym typeface="Lato Bold"/>
              </a:rPr>
              <a:t>12</a:t>
            </a:r>
          </a:p>
        </p:txBody>
      </p:sp>
      <p:sp>
        <p:nvSpPr>
          <p:cNvPr name="Freeform 24" id="24"/>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2">
              <a:alphaModFix amt="30000"/>
            </a:blip>
            <a:stretch>
              <a:fillRect l="0" t="-59181"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grpSp>
        <p:nvGrpSpPr>
          <p:cNvPr name="Group 2" id="2"/>
          <p:cNvGrpSpPr/>
          <p:nvPr/>
        </p:nvGrpSpPr>
        <p:grpSpPr>
          <a:xfrm rot="0">
            <a:off x="1216999" y="1205518"/>
            <a:ext cx="3638082" cy="7875963"/>
            <a:chOff x="0" y="0"/>
            <a:chExt cx="4850776" cy="10501284"/>
          </a:xfrm>
        </p:grpSpPr>
        <p:pic>
          <p:nvPicPr>
            <p:cNvPr name="Picture 3" id="3"/>
            <p:cNvPicPr>
              <a:picLocks noChangeAspect="true"/>
            </p:cNvPicPr>
            <p:nvPr/>
          </p:nvPicPr>
          <p:blipFill>
            <a:blip r:embed="rId2"/>
            <a:srcRect l="16837" t="0" r="21470" b="0"/>
            <a:stretch>
              <a:fillRect/>
            </a:stretch>
          </p:blipFill>
          <p:spPr>
            <a:xfrm flipH="false" flipV="false">
              <a:off x="0" y="0"/>
              <a:ext cx="4850776" cy="10501284"/>
            </a:xfrm>
            <a:prstGeom prst="rect">
              <a:avLst/>
            </a:prstGeom>
          </p:spPr>
        </p:pic>
      </p:grpSp>
      <p:sp>
        <p:nvSpPr>
          <p:cNvPr name="AutoShape 4" id="4"/>
          <p:cNvSpPr/>
          <p:nvPr/>
        </p:nvSpPr>
        <p:spPr>
          <a:xfrm flipV="true">
            <a:off x="-620740" y="1047750"/>
            <a:ext cx="19529480" cy="0"/>
          </a:xfrm>
          <a:prstGeom prst="line">
            <a:avLst/>
          </a:prstGeom>
          <a:ln cap="flat" w="19050">
            <a:solidFill>
              <a:srgbClr val="FFB000"/>
            </a:solidFill>
            <a:prstDash val="solid"/>
            <a:headEnd type="none" len="sm" w="sm"/>
            <a:tailEnd type="none" len="sm" w="sm"/>
          </a:ln>
        </p:spPr>
      </p:sp>
      <p:sp>
        <p:nvSpPr>
          <p:cNvPr name="AutoShape 5" id="5"/>
          <p:cNvSpPr/>
          <p:nvPr/>
        </p:nvSpPr>
        <p:spPr>
          <a:xfrm>
            <a:off x="-620740" y="9239250"/>
            <a:ext cx="19529480" cy="0"/>
          </a:xfrm>
          <a:prstGeom prst="line">
            <a:avLst/>
          </a:prstGeom>
          <a:ln cap="flat" w="19050">
            <a:solidFill>
              <a:srgbClr val="FFB000"/>
            </a:solidFill>
            <a:prstDash val="solid"/>
            <a:headEnd type="none" len="sm" w="sm"/>
            <a:tailEnd type="none" len="sm" w="sm"/>
          </a:ln>
        </p:spPr>
      </p:sp>
      <p:sp>
        <p:nvSpPr>
          <p:cNvPr name="AutoShape 6" id="6"/>
          <p:cNvSpPr/>
          <p:nvPr/>
        </p:nvSpPr>
        <p:spPr>
          <a:xfrm flipH="true">
            <a:off x="1047750" y="-291618"/>
            <a:ext cx="0" cy="10870237"/>
          </a:xfrm>
          <a:prstGeom prst="line">
            <a:avLst/>
          </a:prstGeom>
          <a:ln cap="flat" w="19050">
            <a:solidFill>
              <a:srgbClr val="FFB000"/>
            </a:solidFill>
            <a:prstDash val="solid"/>
            <a:headEnd type="none" len="sm" w="sm"/>
            <a:tailEnd type="none" len="sm" w="sm"/>
          </a:ln>
        </p:spPr>
      </p:sp>
      <p:sp>
        <p:nvSpPr>
          <p:cNvPr name="AutoShape 7" id="7"/>
          <p:cNvSpPr/>
          <p:nvPr/>
        </p:nvSpPr>
        <p:spPr>
          <a:xfrm>
            <a:off x="17259300" y="-291618"/>
            <a:ext cx="0" cy="10870237"/>
          </a:xfrm>
          <a:prstGeom prst="line">
            <a:avLst/>
          </a:prstGeom>
          <a:ln cap="flat" w="19050">
            <a:solidFill>
              <a:srgbClr val="FFB000"/>
            </a:solidFill>
            <a:prstDash val="solid"/>
            <a:headEnd type="none" len="sm" w="sm"/>
            <a:tailEnd type="none" len="sm" w="sm"/>
          </a:ln>
        </p:spPr>
      </p:sp>
      <p:grpSp>
        <p:nvGrpSpPr>
          <p:cNvPr name="Group 8" id="8"/>
          <p:cNvGrpSpPr/>
          <p:nvPr/>
        </p:nvGrpSpPr>
        <p:grpSpPr>
          <a:xfrm rot="0">
            <a:off x="13454404" y="1205518"/>
            <a:ext cx="3638082" cy="7875963"/>
            <a:chOff x="0" y="0"/>
            <a:chExt cx="4850776" cy="10501284"/>
          </a:xfrm>
        </p:grpSpPr>
        <p:pic>
          <p:nvPicPr>
            <p:cNvPr name="Picture 9" id="9"/>
            <p:cNvPicPr>
              <a:picLocks noChangeAspect="true"/>
            </p:cNvPicPr>
            <p:nvPr/>
          </p:nvPicPr>
          <p:blipFill>
            <a:blip r:embed="rId3"/>
            <a:srcRect l="20040" t="0" r="20927" b="0"/>
            <a:stretch>
              <a:fillRect/>
            </a:stretch>
          </p:blipFill>
          <p:spPr>
            <a:xfrm flipH="false" flipV="false">
              <a:off x="0" y="0"/>
              <a:ext cx="4850776" cy="10501284"/>
            </a:xfrm>
            <a:prstGeom prst="rect">
              <a:avLst/>
            </a:prstGeom>
          </p:spPr>
        </p:pic>
      </p:grpSp>
      <p:sp>
        <p:nvSpPr>
          <p:cNvPr name="AutoShape 10" id="10"/>
          <p:cNvSpPr/>
          <p:nvPr/>
        </p:nvSpPr>
        <p:spPr>
          <a:xfrm flipH="true">
            <a:off x="5022432" y="-291618"/>
            <a:ext cx="0" cy="10870237"/>
          </a:xfrm>
          <a:prstGeom prst="line">
            <a:avLst/>
          </a:prstGeom>
          <a:ln cap="flat" w="19050">
            <a:solidFill>
              <a:srgbClr val="FFB000"/>
            </a:solidFill>
            <a:prstDash val="solid"/>
            <a:headEnd type="none" len="sm" w="sm"/>
            <a:tailEnd type="none" len="sm" w="sm"/>
          </a:ln>
        </p:spPr>
      </p:sp>
      <p:sp>
        <p:nvSpPr>
          <p:cNvPr name="AutoShape 11" id="11"/>
          <p:cNvSpPr/>
          <p:nvPr/>
        </p:nvSpPr>
        <p:spPr>
          <a:xfrm>
            <a:off x="13295134" y="-291618"/>
            <a:ext cx="0" cy="10870237"/>
          </a:xfrm>
          <a:prstGeom prst="line">
            <a:avLst/>
          </a:prstGeom>
          <a:ln cap="flat" w="19050">
            <a:solidFill>
              <a:srgbClr val="FFB000"/>
            </a:solidFill>
            <a:prstDash val="solid"/>
            <a:headEnd type="none" len="sm" w="sm"/>
            <a:tailEnd type="none" len="sm" w="sm"/>
          </a:ln>
        </p:spPr>
      </p:sp>
      <p:sp>
        <p:nvSpPr>
          <p:cNvPr name="TextBox 12" id="12"/>
          <p:cNvSpPr txBox="true"/>
          <p:nvPr/>
        </p:nvSpPr>
        <p:spPr>
          <a:xfrm rot="0">
            <a:off x="6100422" y="2987479"/>
            <a:ext cx="6087156" cy="74299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ABOUT OUR</a:t>
            </a:r>
          </a:p>
        </p:txBody>
      </p:sp>
      <p:sp>
        <p:nvSpPr>
          <p:cNvPr name="TextBox 13" id="13"/>
          <p:cNvSpPr txBox="true"/>
          <p:nvPr/>
        </p:nvSpPr>
        <p:spPr>
          <a:xfrm rot="0">
            <a:off x="6650124" y="3739997"/>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Company</a:t>
            </a:r>
          </a:p>
        </p:txBody>
      </p:sp>
      <p:sp>
        <p:nvSpPr>
          <p:cNvPr name="TextBox 14" id="14"/>
          <p:cNvSpPr txBox="true"/>
          <p:nvPr/>
        </p:nvSpPr>
        <p:spPr>
          <a:xfrm rot="0">
            <a:off x="6606140" y="4633138"/>
            <a:ext cx="5105286" cy="3837432"/>
          </a:xfrm>
          <a:prstGeom prst="rect">
            <a:avLst/>
          </a:prstGeom>
        </p:spPr>
        <p:txBody>
          <a:bodyPr anchor="t" rtlCol="false" tIns="0" lIns="0" bIns="0" rIns="0">
            <a:spAutoFit/>
          </a:bodyPr>
          <a:lstStyle/>
          <a:p>
            <a:pPr algn="just">
              <a:lnSpc>
                <a:spcPts val="2394"/>
              </a:lnSpc>
            </a:pPr>
            <a:r>
              <a:rPr lang="en-US" sz="1800">
                <a:solidFill>
                  <a:srgbClr val="FFFFF0"/>
                </a:solidFill>
                <a:latin typeface="Lato"/>
                <a:ea typeface="Lato"/>
                <a:cs typeface="Lato"/>
                <a:sym typeface="Lato"/>
              </a:rPr>
              <a:t>At Visual Eyes Interiors, we transform ideas into spaces that inspire. From intelligent space planning to detailed working drawings, we ensure every corner of your home or office is functional, stylish, and uniquely yours. Our passion lies in creating interiors that tell your story, combining modern design trends with timeless aesthetics.</a:t>
            </a:r>
          </a:p>
          <a:p>
            <a:pPr algn="just">
              <a:lnSpc>
                <a:spcPts val="2394"/>
              </a:lnSpc>
            </a:pPr>
            <a:r>
              <a:rPr lang="en-US" sz="1800">
                <a:solidFill>
                  <a:srgbClr val="FFFFF0"/>
                </a:solidFill>
                <a:latin typeface="Lato"/>
                <a:ea typeface="Lato"/>
                <a:cs typeface="Lato"/>
                <a:sym typeface="Lato"/>
              </a:rPr>
              <a:t>With 3D visualizations, custom furniture designs, and renovation expertise, we help you see, plan, and live your dream space—all while making the process seamless and enjoyable.</a:t>
            </a:r>
          </a:p>
          <a:p>
            <a:pPr algn="just">
              <a:lnSpc>
                <a:spcPts val="2394"/>
              </a:lnSpc>
            </a:pPr>
            <a:r>
              <a:rPr lang="en-US" sz="1800">
                <a:solidFill>
                  <a:srgbClr val="FFFFF0"/>
                </a:solidFill>
                <a:latin typeface="Lato"/>
                <a:ea typeface="Lato"/>
                <a:cs typeface="Lato"/>
                <a:sym typeface="Lato"/>
              </a:rPr>
              <a:t>Creative Interiors, Lasting Impressions.</a:t>
            </a:r>
          </a:p>
          <a:p>
            <a:pPr algn="just">
              <a:lnSpc>
                <a:spcPts val="2394"/>
              </a:lnSpc>
            </a:pPr>
          </a:p>
        </p:txBody>
      </p:sp>
      <p:sp>
        <p:nvSpPr>
          <p:cNvPr name="Freeform 15" id="15"/>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4">
              <a:alphaModFix amt="30000"/>
            </a:blip>
            <a:stretch>
              <a:fillRect l="0" t="-59181"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grpSp>
        <p:nvGrpSpPr>
          <p:cNvPr name="Group 2" id="2"/>
          <p:cNvGrpSpPr/>
          <p:nvPr/>
        </p:nvGrpSpPr>
        <p:grpSpPr>
          <a:xfrm rot="0">
            <a:off x="2825526" y="4337310"/>
            <a:ext cx="2388836" cy="2683068"/>
            <a:chOff x="0" y="0"/>
            <a:chExt cx="3185115" cy="3577424"/>
          </a:xfrm>
        </p:grpSpPr>
        <p:pic>
          <p:nvPicPr>
            <p:cNvPr name="Picture 3" id="3"/>
            <p:cNvPicPr>
              <a:picLocks noChangeAspect="true"/>
            </p:cNvPicPr>
            <p:nvPr/>
          </p:nvPicPr>
          <p:blipFill>
            <a:blip r:embed="rId2"/>
            <a:srcRect l="0" t="0" r="0" b="28875"/>
            <a:stretch>
              <a:fillRect/>
            </a:stretch>
          </p:blipFill>
          <p:spPr>
            <a:xfrm flipH="false" flipV="false">
              <a:off x="0" y="0"/>
              <a:ext cx="3185115" cy="3577424"/>
            </a:xfrm>
            <a:prstGeom prst="rect">
              <a:avLst/>
            </a:prstGeom>
          </p:spPr>
        </p:pic>
      </p:grpSp>
      <p:sp>
        <p:nvSpPr>
          <p:cNvPr name="AutoShape 4" id="4"/>
          <p:cNvSpPr/>
          <p:nvPr/>
        </p:nvSpPr>
        <p:spPr>
          <a:xfrm>
            <a:off x="-620740" y="9239250"/>
            <a:ext cx="19529480" cy="0"/>
          </a:xfrm>
          <a:prstGeom prst="line">
            <a:avLst/>
          </a:prstGeom>
          <a:ln cap="flat" w="19050">
            <a:solidFill>
              <a:srgbClr val="FFB000"/>
            </a:solidFill>
            <a:prstDash val="solid"/>
            <a:headEnd type="none" len="sm" w="sm"/>
            <a:tailEnd type="none" len="sm" w="sm"/>
          </a:ln>
        </p:spPr>
      </p:sp>
      <p:sp>
        <p:nvSpPr>
          <p:cNvPr name="AutoShape 5" id="5"/>
          <p:cNvSpPr/>
          <p:nvPr/>
        </p:nvSpPr>
        <p:spPr>
          <a:xfrm flipH="true">
            <a:off x="1047750" y="-291618"/>
            <a:ext cx="0" cy="10870237"/>
          </a:xfrm>
          <a:prstGeom prst="line">
            <a:avLst/>
          </a:prstGeom>
          <a:ln cap="flat" w="19050">
            <a:solidFill>
              <a:srgbClr val="FFB000"/>
            </a:solidFill>
            <a:prstDash val="solid"/>
            <a:headEnd type="none" len="sm" w="sm"/>
            <a:tailEnd type="none" len="sm" w="sm"/>
          </a:ln>
        </p:spPr>
      </p:sp>
      <p:sp>
        <p:nvSpPr>
          <p:cNvPr name="AutoShape 6" id="6"/>
          <p:cNvSpPr/>
          <p:nvPr/>
        </p:nvSpPr>
        <p:spPr>
          <a:xfrm>
            <a:off x="17259300" y="-291618"/>
            <a:ext cx="0" cy="10870237"/>
          </a:xfrm>
          <a:prstGeom prst="line">
            <a:avLst/>
          </a:prstGeom>
          <a:ln cap="flat" w="19050">
            <a:solidFill>
              <a:srgbClr val="FFB000"/>
            </a:solidFill>
            <a:prstDash val="solid"/>
            <a:headEnd type="none" len="sm" w="sm"/>
            <a:tailEnd type="none" len="sm" w="sm"/>
          </a:ln>
        </p:spPr>
      </p:sp>
      <p:sp>
        <p:nvSpPr>
          <p:cNvPr name="AutoShape 7" id="7"/>
          <p:cNvSpPr/>
          <p:nvPr/>
        </p:nvSpPr>
        <p:spPr>
          <a:xfrm>
            <a:off x="-468340" y="2980158"/>
            <a:ext cx="19529480" cy="0"/>
          </a:xfrm>
          <a:prstGeom prst="line">
            <a:avLst/>
          </a:prstGeom>
          <a:ln cap="flat" w="19050">
            <a:solidFill>
              <a:srgbClr val="FFB000"/>
            </a:solidFill>
            <a:prstDash val="solid"/>
            <a:headEnd type="none" len="sm" w="sm"/>
            <a:tailEnd type="none" len="sm" w="sm"/>
          </a:ln>
        </p:spPr>
      </p:sp>
      <p:grpSp>
        <p:nvGrpSpPr>
          <p:cNvPr name="Group 8" id="8"/>
          <p:cNvGrpSpPr/>
          <p:nvPr/>
        </p:nvGrpSpPr>
        <p:grpSpPr>
          <a:xfrm rot="0">
            <a:off x="7949582" y="4337310"/>
            <a:ext cx="2388836" cy="2683068"/>
            <a:chOff x="0" y="0"/>
            <a:chExt cx="3185115" cy="3577424"/>
          </a:xfrm>
        </p:grpSpPr>
        <p:pic>
          <p:nvPicPr>
            <p:cNvPr name="Picture 9" id="9"/>
            <p:cNvPicPr>
              <a:picLocks noChangeAspect="true"/>
            </p:cNvPicPr>
            <p:nvPr/>
          </p:nvPicPr>
          <p:blipFill>
            <a:blip r:embed="rId3"/>
            <a:srcRect l="1873" t="0" r="1873" b="0"/>
            <a:stretch>
              <a:fillRect/>
            </a:stretch>
          </p:blipFill>
          <p:spPr>
            <a:xfrm flipH="false" flipV="false">
              <a:off x="0" y="0"/>
              <a:ext cx="3185115" cy="3577424"/>
            </a:xfrm>
            <a:prstGeom prst="rect">
              <a:avLst/>
            </a:prstGeom>
          </p:spPr>
        </p:pic>
      </p:grpSp>
      <p:grpSp>
        <p:nvGrpSpPr>
          <p:cNvPr name="Group 10" id="10"/>
          <p:cNvGrpSpPr/>
          <p:nvPr/>
        </p:nvGrpSpPr>
        <p:grpSpPr>
          <a:xfrm rot="0">
            <a:off x="12859278" y="4337310"/>
            <a:ext cx="2388836" cy="2683068"/>
            <a:chOff x="0" y="0"/>
            <a:chExt cx="3185115" cy="3577424"/>
          </a:xfrm>
        </p:grpSpPr>
        <p:pic>
          <p:nvPicPr>
            <p:cNvPr name="Picture 11" id="11"/>
            <p:cNvPicPr>
              <a:picLocks noChangeAspect="true"/>
            </p:cNvPicPr>
            <p:nvPr/>
          </p:nvPicPr>
          <p:blipFill>
            <a:blip r:embed="rId4"/>
            <a:srcRect l="5392" t="0" r="5392" b="0"/>
            <a:stretch>
              <a:fillRect/>
            </a:stretch>
          </p:blipFill>
          <p:spPr>
            <a:xfrm flipH="false" flipV="false">
              <a:off x="0" y="0"/>
              <a:ext cx="3185115" cy="3577424"/>
            </a:xfrm>
            <a:prstGeom prst="rect">
              <a:avLst/>
            </a:prstGeom>
          </p:spPr>
        </p:pic>
      </p:grpSp>
      <p:sp>
        <p:nvSpPr>
          <p:cNvPr name="TextBox 12" id="12"/>
          <p:cNvSpPr txBox="true"/>
          <p:nvPr/>
        </p:nvSpPr>
        <p:spPr>
          <a:xfrm rot="0">
            <a:off x="12590352" y="7245828"/>
            <a:ext cx="2926687" cy="358013"/>
          </a:xfrm>
          <a:prstGeom prst="rect">
            <a:avLst/>
          </a:prstGeom>
        </p:spPr>
        <p:txBody>
          <a:bodyPr anchor="t" rtlCol="false" tIns="0" lIns="0" bIns="0" rIns="0">
            <a:spAutoFit/>
          </a:bodyPr>
          <a:lstStyle/>
          <a:p>
            <a:pPr algn="ctr">
              <a:lnSpc>
                <a:spcPts val="2626"/>
              </a:lnSpc>
            </a:pPr>
            <a:r>
              <a:rPr lang="en-US" b="true" sz="2600" spc="-124">
                <a:solidFill>
                  <a:srgbClr val="FFFFF0"/>
                </a:solidFill>
                <a:latin typeface="Lato Bold"/>
                <a:ea typeface="Lato Bold"/>
                <a:cs typeface="Lato Bold"/>
                <a:sym typeface="Lato Bold"/>
              </a:rPr>
              <a:t>SYED RAHMAN</a:t>
            </a:r>
          </a:p>
        </p:txBody>
      </p:sp>
      <p:sp>
        <p:nvSpPr>
          <p:cNvPr name="TextBox 13" id="13"/>
          <p:cNvSpPr txBox="true"/>
          <p:nvPr/>
        </p:nvSpPr>
        <p:spPr>
          <a:xfrm rot="0">
            <a:off x="12634292" y="7622891"/>
            <a:ext cx="2838807" cy="248920"/>
          </a:xfrm>
          <a:prstGeom prst="rect">
            <a:avLst/>
          </a:prstGeom>
        </p:spPr>
        <p:txBody>
          <a:bodyPr anchor="t" rtlCol="false" tIns="0" lIns="0" bIns="0" rIns="0">
            <a:spAutoFit/>
          </a:bodyPr>
          <a:lstStyle/>
          <a:p>
            <a:pPr algn="ctr">
              <a:lnSpc>
                <a:spcPts val="1955"/>
              </a:lnSpc>
            </a:pPr>
            <a:r>
              <a:rPr lang="en-US" sz="1700" i="true">
                <a:solidFill>
                  <a:srgbClr val="FFFFF0"/>
                </a:solidFill>
                <a:latin typeface="Playfair Display Italics"/>
                <a:ea typeface="Playfair Display Italics"/>
                <a:cs typeface="Playfair Display Italics"/>
                <a:sym typeface="Playfair Display Italics"/>
              </a:rPr>
              <a:t>Architect</a:t>
            </a:r>
          </a:p>
        </p:txBody>
      </p:sp>
      <p:sp>
        <p:nvSpPr>
          <p:cNvPr name="TextBox 14" id="14"/>
          <p:cNvSpPr txBox="true"/>
          <p:nvPr/>
        </p:nvSpPr>
        <p:spPr>
          <a:xfrm rot="0">
            <a:off x="6100422" y="1081987"/>
            <a:ext cx="6087156" cy="74299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MEET OUR</a:t>
            </a:r>
          </a:p>
        </p:txBody>
      </p:sp>
      <p:sp>
        <p:nvSpPr>
          <p:cNvPr name="TextBox 15" id="15"/>
          <p:cNvSpPr txBox="true"/>
          <p:nvPr/>
        </p:nvSpPr>
        <p:spPr>
          <a:xfrm rot="0">
            <a:off x="6650124" y="1739225"/>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Team</a:t>
            </a:r>
          </a:p>
        </p:txBody>
      </p:sp>
      <p:sp>
        <p:nvSpPr>
          <p:cNvPr name="TextBox 16" id="16"/>
          <p:cNvSpPr txBox="true"/>
          <p:nvPr/>
        </p:nvSpPr>
        <p:spPr>
          <a:xfrm rot="0">
            <a:off x="2556600" y="7245828"/>
            <a:ext cx="2926687" cy="358013"/>
          </a:xfrm>
          <a:prstGeom prst="rect">
            <a:avLst/>
          </a:prstGeom>
        </p:spPr>
        <p:txBody>
          <a:bodyPr anchor="t" rtlCol="false" tIns="0" lIns="0" bIns="0" rIns="0">
            <a:spAutoFit/>
          </a:bodyPr>
          <a:lstStyle/>
          <a:p>
            <a:pPr algn="ctr">
              <a:lnSpc>
                <a:spcPts val="2626"/>
              </a:lnSpc>
            </a:pPr>
            <a:r>
              <a:rPr lang="en-US" b="true" sz="2600" spc="-124">
                <a:solidFill>
                  <a:srgbClr val="FFFFF0"/>
                </a:solidFill>
                <a:latin typeface="Lato Bold"/>
                <a:ea typeface="Lato Bold"/>
                <a:cs typeface="Lato Bold"/>
                <a:sym typeface="Lato Bold"/>
              </a:rPr>
              <a:t>JAWAD ALAM</a:t>
            </a:r>
          </a:p>
        </p:txBody>
      </p:sp>
      <p:sp>
        <p:nvSpPr>
          <p:cNvPr name="TextBox 17" id="17"/>
          <p:cNvSpPr txBox="true"/>
          <p:nvPr/>
        </p:nvSpPr>
        <p:spPr>
          <a:xfrm rot="0">
            <a:off x="2600540" y="7613366"/>
            <a:ext cx="2838807" cy="496570"/>
          </a:xfrm>
          <a:prstGeom prst="rect">
            <a:avLst/>
          </a:prstGeom>
        </p:spPr>
        <p:txBody>
          <a:bodyPr anchor="t" rtlCol="false" tIns="0" lIns="0" bIns="0" rIns="0">
            <a:spAutoFit/>
          </a:bodyPr>
          <a:lstStyle/>
          <a:p>
            <a:pPr algn="ctr">
              <a:lnSpc>
                <a:spcPts val="1955"/>
              </a:lnSpc>
            </a:pPr>
            <a:r>
              <a:rPr lang="en-US" sz="1700" i="true">
                <a:solidFill>
                  <a:srgbClr val="FFFFF0"/>
                </a:solidFill>
                <a:latin typeface="Playfair Display Italics"/>
                <a:ea typeface="Playfair Display Italics"/>
                <a:cs typeface="Playfair Display Italics"/>
                <a:sym typeface="Playfair Display Italics"/>
              </a:rPr>
              <a:t>Interior Designer &amp; 3D visualizer</a:t>
            </a:r>
          </a:p>
        </p:txBody>
      </p:sp>
      <p:sp>
        <p:nvSpPr>
          <p:cNvPr name="TextBox 18" id="18"/>
          <p:cNvSpPr txBox="true"/>
          <p:nvPr/>
        </p:nvSpPr>
        <p:spPr>
          <a:xfrm rot="0">
            <a:off x="7680656" y="7245828"/>
            <a:ext cx="2926687" cy="358013"/>
          </a:xfrm>
          <a:prstGeom prst="rect">
            <a:avLst/>
          </a:prstGeom>
        </p:spPr>
        <p:txBody>
          <a:bodyPr anchor="t" rtlCol="false" tIns="0" lIns="0" bIns="0" rIns="0">
            <a:spAutoFit/>
          </a:bodyPr>
          <a:lstStyle/>
          <a:p>
            <a:pPr algn="ctr">
              <a:lnSpc>
                <a:spcPts val="2626"/>
              </a:lnSpc>
            </a:pPr>
            <a:r>
              <a:rPr lang="en-US" b="true" sz="2600" spc="-124">
                <a:solidFill>
                  <a:srgbClr val="FFFFF0"/>
                </a:solidFill>
                <a:latin typeface="Lato Bold"/>
                <a:ea typeface="Lato Bold"/>
                <a:cs typeface="Lato Bold"/>
                <a:sym typeface="Lato Bold"/>
              </a:rPr>
              <a:t>HARIS KHAN</a:t>
            </a:r>
          </a:p>
        </p:txBody>
      </p:sp>
      <p:sp>
        <p:nvSpPr>
          <p:cNvPr name="TextBox 19" id="19"/>
          <p:cNvSpPr txBox="true"/>
          <p:nvPr/>
        </p:nvSpPr>
        <p:spPr>
          <a:xfrm rot="0">
            <a:off x="7724597" y="7613366"/>
            <a:ext cx="2838807" cy="496570"/>
          </a:xfrm>
          <a:prstGeom prst="rect">
            <a:avLst/>
          </a:prstGeom>
        </p:spPr>
        <p:txBody>
          <a:bodyPr anchor="t" rtlCol="false" tIns="0" lIns="0" bIns="0" rIns="0">
            <a:spAutoFit/>
          </a:bodyPr>
          <a:lstStyle/>
          <a:p>
            <a:pPr algn="ctr">
              <a:lnSpc>
                <a:spcPts val="1955"/>
              </a:lnSpc>
            </a:pPr>
            <a:r>
              <a:rPr lang="en-US" sz="1700" i="true">
                <a:solidFill>
                  <a:srgbClr val="FFFFF0"/>
                </a:solidFill>
                <a:latin typeface="Playfair Display Italics"/>
                <a:ea typeface="Playfair Display Italics"/>
                <a:cs typeface="Playfair Display Italics"/>
                <a:sym typeface="Playfair Display Italics"/>
              </a:rPr>
              <a:t>Interior Designer &amp; Civil Engineer</a:t>
            </a:r>
          </a:p>
        </p:txBody>
      </p:sp>
      <p:sp>
        <p:nvSpPr>
          <p:cNvPr name="Freeform 20" id="20"/>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5">
              <a:alphaModFix amt="30000"/>
            </a:blip>
            <a:stretch>
              <a:fillRect l="0" t="-59181"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sp>
        <p:nvSpPr>
          <p:cNvPr name="TextBox 2" id="2"/>
          <p:cNvSpPr txBox="true"/>
          <p:nvPr/>
        </p:nvSpPr>
        <p:spPr>
          <a:xfrm rot="0">
            <a:off x="6100422" y="1081987"/>
            <a:ext cx="6087156" cy="74299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WHAT OUR</a:t>
            </a:r>
          </a:p>
        </p:txBody>
      </p:sp>
      <p:sp>
        <p:nvSpPr>
          <p:cNvPr name="TextBox 3" id="3"/>
          <p:cNvSpPr txBox="true"/>
          <p:nvPr/>
        </p:nvSpPr>
        <p:spPr>
          <a:xfrm rot="0">
            <a:off x="6650124" y="1739225"/>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Clients say</a:t>
            </a:r>
          </a:p>
        </p:txBody>
      </p:sp>
      <p:sp>
        <p:nvSpPr>
          <p:cNvPr name="AutoShape 4" id="4"/>
          <p:cNvSpPr/>
          <p:nvPr/>
        </p:nvSpPr>
        <p:spPr>
          <a:xfrm>
            <a:off x="-620740" y="9239250"/>
            <a:ext cx="19529480" cy="0"/>
          </a:xfrm>
          <a:prstGeom prst="line">
            <a:avLst/>
          </a:prstGeom>
          <a:ln cap="flat" w="19050">
            <a:solidFill>
              <a:srgbClr val="FFB000"/>
            </a:solidFill>
            <a:prstDash val="solid"/>
            <a:headEnd type="none" len="sm" w="sm"/>
            <a:tailEnd type="none" len="sm" w="sm"/>
          </a:ln>
        </p:spPr>
      </p:sp>
      <p:sp>
        <p:nvSpPr>
          <p:cNvPr name="AutoShape 5" id="5"/>
          <p:cNvSpPr/>
          <p:nvPr/>
        </p:nvSpPr>
        <p:spPr>
          <a:xfrm flipH="true">
            <a:off x="1047750" y="-291618"/>
            <a:ext cx="0" cy="10870237"/>
          </a:xfrm>
          <a:prstGeom prst="line">
            <a:avLst/>
          </a:prstGeom>
          <a:ln cap="flat" w="19050">
            <a:solidFill>
              <a:srgbClr val="FFB000"/>
            </a:solidFill>
            <a:prstDash val="solid"/>
            <a:headEnd type="none" len="sm" w="sm"/>
            <a:tailEnd type="none" len="sm" w="sm"/>
          </a:ln>
        </p:spPr>
      </p:sp>
      <p:sp>
        <p:nvSpPr>
          <p:cNvPr name="AutoShape 6" id="6"/>
          <p:cNvSpPr/>
          <p:nvPr/>
        </p:nvSpPr>
        <p:spPr>
          <a:xfrm>
            <a:off x="17259300" y="-291618"/>
            <a:ext cx="0" cy="10870237"/>
          </a:xfrm>
          <a:prstGeom prst="line">
            <a:avLst/>
          </a:prstGeom>
          <a:ln cap="flat" w="19050">
            <a:solidFill>
              <a:srgbClr val="FFB000"/>
            </a:solidFill>
            <a:prstDash val="solid"/>
            <a:headEnd type="none" len="sm" w="sm"/>
            <a:tailEnd type="none" len="sm" w="sm"/>
          </a:ln>
        </p:spPr>
      </p:sp>
      <p:sp>
        <p:nvSpPr>
          <p:cNvPr name="AutoShape 7" id="7"/>
          <p:cNvSpPr/>
          <p:nvPr/>
        </p:nvSpPr>
        <p:spPr>
          <a:xfrm>
            <a:off x="-468340" y="2980158"/>
            <a:ext cx="19529480" cy="0"/>
          </a:xfrm>
          <a:prstGeom prst="line">
            <a:avLst/>
          </a:prstGeom>
          <a:ln cap="flat" w="19050">
            <a:solidFill>
              <a:srgbClr val="FFB000"/>
            </a:solidFill>
            <a:prstDash val="solid"/>
            <a:headEnd type="none" len="sm" w="sm"/>
            <a:tailEnd type="none" len="sm" w="sm"/>
          </a:ln>
        </p:spPr>
      </p:sp>
      <p:sp>
        <p:nvSpPr>
          <p:cNvPr name="TextBox 8" id="8"/>
          <p:cNvSpPr txBox="true"/>
          <p:nvPr/>
        </p:nvSpPr>
        <p:spPr>
          <a:xfrm rot="0">
            <a:off x="4053094" y="5392408"/>
            <a:ext cx="2926687" cy="358013"/>
          </a:xfrm>
          <a:prstGeom prst="rect">
            <a:avLst/>
          </a:prstGeom>
        </p:spPr>
        <p:txBody>
          <a:bodyPr anchor="t" rtlCol="false" tIns="0" lIns="0" bIns="0" rIns="0">
            <a:spAutoFit/>
          </a:bodyPr>
          <a:lstStyle/>
          <a:p>
            <a:pPr algn="ctr">
              <a:lnSpc>
                <a:spcPts val="2626"/>
              </a:lnSpc>
            </a:pPr>
            <a:r>
              <a:rPr lang="en-US" b="true" sz="2600" spc="-124">
                <a:solidFill>
                  <a:srgbClr val="FFFFF0"/>
                </a:solidFill>
                <a:latin typeface="Lato Bold"/>
                <a:ea typeface="Lato Bold"/>
                <a:cs typeface="Lato Bold"/>
                <a:sym typeface="Lato Bold"/>
              </a:rPr>
              <a:t>OZZIE BURNHAM</a:t>
            </a:r>
          </a:p>
        </p:txBody>
      </p:sp>
      <p:sp>
        <p:nvSpPr>
          <p:cNvPr name="TextBox 9" id="9"/>
          <p:cNvSpPr txBox="true"/>
          <p:nvPr/>
        </p:nvSpPr>
        <p:spPr>
          <a:xfrm rot="0">
            <a:off x="2816899" y="4123158"/>
            <a:ext cx="5726951" cy="1136523"/>
          </a:xfrm>
          <a:prstGeom prst="rect">
            <a:avLst/>
          </a:prstGeom>
        </p:spPr>
        <p:txBody>
          <a:bodyPr anchor="t" rtlCol="false" tIns="0" lIns="0" bIns="0" rIns="0">
            <a:spAutoFit/>
          </a:bodyPr>
          <a:lstStyle/>
          <a:p>
            <a:pPr algn="ctr">
              <a:lnSpc>
                <a:spcPts val="2286"/>
              </a:lnSpc>
            </a:pPr>
            <a:r>
              <a:rPr lang="en-US" sz="1800" i="true">
                <a:solidFill>
                  <a:srgbClr val="FFFFF0"/>
                </a:solidFill>
                <a:latin typeface="Playfair Display Italics"/>
                <a:ea typeface="Playfair Display Italics"/>
                <a:cs typeface="Playfair Display Italics"/>
                <a:sym typeface="Playfair Display Italics"/>
              </a:rPr>
              <a:t>Visual Eyes Interiors completely understood our requirement and worked hard under a tight time constraint to deliver a fantastic result! We have every intention of working with them in the future.</a:t>
            </a:r>
          </a:p>
        </p:txBody>
      </p:sp>
      <p:sp>
        <p:nvSpPr>
          <p:cNvPr name="TextBox 10" id="10"/>
          <p:cNvSpPr txBox="true"/>
          <p:nvPr/>
        </p:nvSpPr>
        <p:spPr>
          <a:xfrm rot="0">
            <a:off x="7680656" y="7952197"/>
            <a:ext cx="2926687" cy="358013"/>
          </a:xfrm>
          <a:prstGeom prst="rect">
            <a:avLst/>
          </a:prstGeom>
        </p:spPr>
        <p:txBody>
          <a:bodyPr anchor="t" rtlCol="false" tIns="0" lIns="0" bIns="0" rIns="0">
            <a:spAutoFit/>
          </a:bodyPr>
          <a:lstStyle/>
          <a:p>
            <a:pPr algn="ctr">
              <a:lnSpc>
                <a:spcPts val="2626"/>
              </a:lnSpc>
            </a:pPr>
            <a:r>
              <a:rPr lang="en-US" b="true" sz="2600" spc="-124">
                <a:solidFill>
                  <a:srgbClr val="FFFFF0"/>
                </a:solidFill>
                <a:latin typeface="Lato Bold"/>
                <a:ea typeface="Lato Bold"/>
                <a:cs typeface="Lato Bold"/>
                <a:sym typeface="Lato Bold"/>
              </a:rPr>
              <a:t>AHSAN GONDAL</a:t>
            </a:r>
          </a:p>
        </p:txBody>
      </p:sp>
      <p:sp>
        <p:nvSpPr>
          <p:cNvPr name="TextBox 11" id="11"/>
          <p:cNvSpPr txBox="true"/>
          <p:nvPr/>
        </p:nvSpPr>
        <p:spPr>
          <a:xfrm rot="0">
            <a:off x="6186126" y="6627419"/>
            <a:ext cx="5915749" cy="1136523"/>
          </a:xfrm>
          <a:prstGeom prst="rect">
            <a:avLst/>
          </a:prstGeom>
        </p:spPr>
        <p:txBody>
          <a:bodyPr anchor="t" rtlCol="false" tIns="0" lIns="0" bIns="0" rIns="0">
            <a:spAutoFit/>
          </a:bodyPr>
          <a:lstStyle/>
          <a:p>
            <a:pPr algn="ctr">
              <a:lnSpc>
                <a:spcPts val="2286"/>
              </a:lnSpc>
            </a:pPr>
            <a:r>
              <a:rPr lang="en-US" sz="1800" i="true">
                <a:solidFill>
                  <a:srgbClr val="FFFFF0"/>
                </a:solidFill>
                <a:latin typeface="Playfair Display Italics"/>
                <a:ea typeface="Playfair Display Italics"/>
                <a:cs typeface="Playfair Display Italics"/>
                <a:sym typeface="Playfair Display Italics"/>
              </a:rPr>
              <a:t>Visual Eyes interiors is dedicated and committed to their profession, the company has designed my salon as you can see in the video. I am really surprised by their professional work</a:t>
            </a:r>
          </a:p>
        </p:txBody>
      </p:sp>
      <p:sp>
        <p:nvSpPr>
          <p:cNvPr name="TextBox 12" id="12"/>
          <p:cNvSpPr txBox="true"/>
          <p:nvPr/>
        </p:nvSpPr>
        <p:spPr>
          <a:xfrm rot="0">
            <a:off x="11194825" y="5420875"/>
            <a:ext cx="3133134" cy="358013"/>
          </a:xfrm>
          <a:prstGeom prst="rect">
            <a:avLst/>
          </a:prstGeom>
        </p:spPr>
        <p:txBody>
          <a:bodyPr anchor="t" rtlCol="false" tIns="0" lIns="0" bIns="0" rIns="0">
            <a:spAutoFit/>
          </a:bodyPr>
          <a:lstStyle/>
          <a:p>
            <a:pPr algn="ctr">
              <a:lnSpc>
                <a:spcPts val="2626"/>
              </a:lnSpc>
            </a:pPr>
            <a:r>
              <a:rPr lang="en-US" b="true" sz="2600" spc="-124">
                <a:solidFill>
                  <a:srgbClr val="FFFFF0"/>
                </a:solidFill>
                <a:latin typeface="Lato Bold"/>
                <a:ea typeface="Lato Bold"/>
                <a:cs typeface="Lato Bold"/>
                <a:sym typeface="Lato Bold"/>
              </a:rPr>
              <a:t>NOMAN SHER</a:t>
            </a:r>
          </a:p>
        </p:txBody>
      </p:sp>
      <p:sp>
        <p:nvSpPr>
          <p:cNvPr name="TextBox 13" id="13"/>
          <p:cNvSpPr txBox="true"/>
          <p:nvPr/>
        </p:nvSpPr>
        <p:spPr>
          <a:xfrm rot="0">
            <a:off x="9885563" y="4123158"/>
            <a:ext cx="5751658" cy="1136523"/>
          </a:xfrm>
          <a:prstGeom prst="rect">
            <a:avLst/>
          </a:prstGeom>
        </p:spPr>
        <p:txBody>
          <a:bodyPr anchor="t" rtlCol="false" tIns="0" lIns="0" bIns="0" rIns="0">
            <a:spAutoFit/>
          </a:bodyPr>
          <a:lstStyle/>
          <a:p>
            <a:pPr algn="ctr">
              <a:lnSpc>
                <a:spcPts val="2286"/>
              </a:lnSpc>
            </a:pPr>
            <a:r>
              <a:rPr lang="en-US" sz="1800" i="true">
                <a:solidFill>
                  <a:srgbClr val="FFFFF0"/>
                </a:solidFill>
                <a:latin typeface="Playfair Display Italics"/>
                <a:ea typeface="Playfair Display Italics"/>
                <a:cs typeface="Playfair Display Italics"/>
                <a:sym typeface="Playfair Display Italics"/>
              </a:rPr>
              <a:t>We recently worked with visual eyes interiors on our interior design project, and the results exceeded all our expectations.Their creativity attention to detail, and ability to combine style with comfort truly impressed us.</a:t>
            </a:r>
          </a:p>
        </p:txBody>
      </p:sp>
      <p:sp>
        <p:nvSpPr>
          <p:cNvPr name="TextBox 14" id="14"/>
          <p:cNvSpPr txBox="true"/>
          <p:nvPr/>
        </p:nvSpPr>
        <p:spPr>
          <a:xfrm rot="0">
            <a:off x="4053094" y="5841035"/>
            <a:ext cx="2926687" cy="243459"/>
          </a:xfrm>
          <a:prstGeom prst="rect">
            <a:avLst/>
          </a:prstGeom>
        </p:spPr>
        <p:txBody>
          <a:bodyPr anchor="t" rtlCol="false" tIns="0" lIns="0" bIns="0" rIns="0">
            <a:spAutoFit/>
          </a:bodyPr>
          <a:lstStyle/>
          <a:p>
            <a:pPr algn="ctr">
              <a:lnSpc>
                <a:spcPts val="1818"/>
              </a:lnSpc>
            </a:pPr>
            <a:r>
              <a:rPr lang="en-US" sz="1800" spc="-86">
                <a:solidFill>
                  <a:srgbClr val="FFFFF0"/>
                </a:solidFill>
                <a:latin typeface="Playfair Display"/>
                <a:ea typeface="Playfair Display"/>
                <a:cs typeface="Playfair Display"/>
                <a:sym typeface="Playfair Display"/>
              </a:rPr>
              <a:t>UNITED STATES</a:t>
            </a:r>
          </a:p>
        </p:txBody>
      </p:sp>
      <p:sp>
        <p:nvSpPr>
          <p:cNvPr name="TextBox 15" id="15"/>
          <p:cNvSpPr txBox="true"/>
          <p:nvPr/>
        </p:nvSpPr>
        <p:spPr>
          <a:xfrm rot="0">
            <a:off x="11090838" y="5841035"/>
            <a:ext cx="2926687" cy="243459"/>
          </a:xfrm>
          <a:prstGeom prst="rect">
            <a:avLst/>
          </a:prstGeom>
        </p:spPr>
        <p:txBody>
          <a:bodyPr anchor="t" rtlCol="false" tIns="0" lIns="0" bIns="0" rIns="0">
            <a:spAutoFit/>
          </a:bodyPr>
          <a:lstStyle/>
          <a:p>
            <a:pPr algn="ctr">
              <a:lnSpc>
                <a:spcPts val="1818"/>
              </a:lnSpc>
            </a:pPr>
            <a:r>
              <a:rPr lang="en-US" sz="1800" spc="-86">
                <a:solidFill>
                  <a:srgbClr val="FFFFF0"/>
                </a:solidFill>
                <a:latin typeface="Playfair Display"/>
                <a:ea typeface="Playfair Display"/>
                <a:cs typeface="Playfair Display"/>
                <a:sym typeface="Playfair Display"/>
              </a:rPr>
              <a:t>PAKISTAN</a:t>
            </a:r>
          </a:p>
        </p:txBody>
      </p:sp>
      <p:sp>
        <p:nvSpPr>
          <p:cNvPr name="TextBox 16" id="16"/>
          <p:cNvSpPr txBox="true"/>
          <p:nvPr/>
        </p:nvSpPr>
        <p:spPr>
          <a:xfrm rot="0">
            <a:off x="7690181" y="8389392"/>
            <a:ext cx="2926687" cy="243459"/>
          </a:xfrm>
          <a:prstGeom prst="rect">
            <a:avLst/>
          </a:prstGeom>
        </p:spPr>
        <p:txBody>
          <a:bodyPr anchor="t" rtlCol="false" tIns="0" lIns="0" bIns="0" rIns="0">
            <a:spAutoFit/>
          </a:bodyPr>
          <a:lstStyle/>
          <a:p>
            <a:pPr algn="ctr">
              <a:lnSpc>
                <a:spcPts val="1818"/>
              </a:lnSpc>
            </a:pPr>
            <a:r>
              <a:rPr lang="en-US" sz="1800" spc="-86">
                <a:solidFill>
                  <a:srgbClr val="FFFFF0"/>
                </a:solidFill>
                <a:latin typeface="Playfair Display"/>
                <a:ea typeface="Playfair Display"/>
                <a:cs typeface="Playfair Display"/>
                <a:sym typeface="Playfair Display"/>
              </a:rPr>
              <a:t>PAKISTAN</a:t>
            </a:r>
          </a:p>
        </p:txBody>
      </p:sp>
      <p:sp>
        <p:nvSpPr>
          <p:cNvPr name="Freeform 17" id="17"/>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2">
              <a:alphaModFix amt="30000"/>
            </a:blip>
            <a:stretch>
              <a:fillRect l="0" t="-59181"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grpSp>
        <p:nvGrpSpPr>
          <p:cNvPr name="Group 2" id="2"/>
          <p:cNvGrpSpPr/>
          <p:nvPr/>
        </p:nvGrpSpPr>
        <p:grpSpPr>
          <a:xfrm rot="0">
            <a:off x="1262924" y="2840003"/>
            <a:ext cx="6057048" cy="6199719"/>
            <a:chOff x="0" y="0"/>
            <a:chExt cx="8076064" cy="8266292"/>
          </a:xfrm>
        </p:grpSpPr>
        <p:pic>
          <p:nvPicPr>
            <p:cNvPr name="Picture 3" id="3"/>
            <p:cNvPicPr>
              <a:picLocks noChangeAspect="true"/>
            </p:cNvPicPr>
            <p:nvPr/>
          </p:nvPicPr>
          <p:blipFill>
            <a:blip r:embed="rId2"/>
            <a:srcRect l="8763" t="0" r="36280" b="0"/>
            <a:stretch>
              <a:fillRect/>
            </a:stretch>
          </p:blipFill>
          <p:spPr>
            <a:xfrm flipH="false" flipV="false">
              <a:off x="0" y="0"/>
              <a:ext cx="8076064" cy="8266292"/>
            </a:xfrm>
            <a:prstGeom prst="rect">
              <a:avLst/>
            </a:prstGeom>
          </p:spPr>
        </p:pic>
      </p:grpSp>
      <p:sp>
        <p:nvSpPr>
          <p:cNvPr name="AutoShape 4" id="4"/>
          <p:cNvSpPr/>
          <p:nvPr/>
        </p:nvSpPr>
        <p:spPr>
          <a:xfrm>
            <a:off x="-620740" y="9239250"/>
            <a:ext cx="19529480" cy="0"/>
          </a:xfrm>
          <a:prstGeom prst="line">
            <a:avLst/>
          </a:prstGeom>
          <a:ln cap="flat" w="19050">
            <a:solidFill>
              <a:srgbClr val="FFB000"/>
            </a:solidFill>
            <a:prstDash val="solid"/>
            <a:headEnd type="none" len="sm" w="sm"/>
            <a:tailEnd type="none" len="sm" w="sm"/>
          </a:ln>
        </p:spPr>
      </p:sp>
      <p:sp>
        <p:nvSpPr>
          <p:cNvPr name="AutoShape 5" id="5"/>
          <p:cNvSpPr/>
          <p:nvPr/>
        </p:nvSpPr>
        <p:spPr>
          <a:xfrm flipH="true">
            <a:off x="1047750" y="-291618"/>
            <a:ext cx="0" cy="10870237"/>
          </a:xfrm>
          <a:prstGeom prst="line">
            <a:avLst/>
          </a:prstGeom>
          <a:ln cap="flat" w="19050">
            <a:solidFill>
              <a:srgbClr val="FFB000"/>
            </a:solidFill>
            <a:prstDash val="solid"/>
            <a:headEnd type="none" len="sm" w="sm"/>
            <a:tailEnd type="none" len="sm" w="sm"/>
          </a:ln>
        </p:spPr>
      </p:sp>
      <p:sp>
        <p:nvSpPr>
          <p:cNvPr name="AutoShape 6" id="6"/>
          <p:cNvSpPr/>
          <p:nvPr/>
        </p:nvSpPr>
        <p:spPr>
          <a:xfrm>
            <a:off x="17259300" y="-291618"/>
            <a:ext cx="0" cy="10870237"/>
          </a:xfrm>
          <a:prstGeom prst="line">
            <a:avLst/>
          </a:prstGeom>
          <a:ln cap="flat" w="19050">
            <a:solidFill>
              <a:srgbClr val="FFB000"/>
            </a:solidFill>
            <a:prstDash val="solid"/>
            <a:headEnd type="none" len="sm" w="sm"/>
            <a:tailEnd type="none" len="sm" w="sm"/>
          </a:ln>
        </p:spPr>
      </p:sp>
      <p:grpSp>
        <p:nvGrpSpPr>
          <p:cNvPr name="Group 7" id="7"/>
          <p:cNvGrpSpPr/>
          <p:nvPr/>
        </p:nvGrpSpPr>
        <p:grpSpPr>
          <a:xfrm rot="0">
            <a:off x="7515234" y="2840003"/>
            <a:ext cx="3303534" cy="3094701"/>
            <a:chOff x="0" y="0"/>
            <a:chExt cx="4404712" cy="4126268"/>
          </a:xfrm>
        </p:grpSpPr>
        <p:pic>
          <p:nvPicPr>
            <p:cNvPr name="Picture 8" id="8"/>
            <p:cNvPicPr>
              <a:picLocks noChangeAspect="true"/>
            </p:cNvPicPr>
            <p:nvPr/>
          </p:nvPicPr>
          <p:blipFill>
            <a:blip r:embed="rId3"/>
            <a:srcRect l="24906" t="13134" r="23057" b="206"/>
            <a:stretch>
              <a:fillRect/>
            </a:stretch>
          </p:blipFill>
          <p:spPr>
            <a:xfrm flipH="false" flipV="false">
              <a:off x="0" y="0"/>
              <a:ext cx="4404712" cy="4126268"/>
            </a:xfrm>
            <a:prstGeom prst="rect">
              <a:avLst/>
            </a:prstGeom>
          </p:spPr>
        </p:pic>
      </p:grpSp>
      <p:grpSp>
        <p:nvGrpSpPr>
          <p:cNvPr name="Group 9" id="9"/>
          <p:cNvGrpSpPr/>
          <p:nvPr/>
        </p:nvGrpSpPr>
        <p:grpSpPr>
          <a:xfrm rot="0">
            <a:off x="7515234" y="6125204"/>
            <a:ext cx="3303534" cy="2914518"/>
            <a:chOff x="0" y="0"/>
            <a:chExt cx="4404712" cy="3886023"/>
          </a:xfrm>
        </p:grpSpPr>
        <p:pic>
          <p:nvPicPr>
            <p:cNvPr name="Picture 10" id="10"/>
            <p:cNvPicPr>
              <a:picLocks noChangeAspect="true"/>
            </p:cNvPicPr>
            <p:nvPr/>
          </p:nvPicPr>
          <p:blipFill>
            <a:blip r:embed="rId4"/>
            <a:srcRect l="16285" t="185" r="23382" b="5186"/>
            <a:stretch>
              <a:fillRect/>
            </a:stretch>
          </p:blipFill>
          <p:spPr>
            <a:xfrm flipH="false" flipV="false">
              <a:off x="0" y="0"/>
              <a:ext cx="4404712" cy="3886023"/>
            </a:xfrm>
            <a:prstGeom prst="rect">
              <a:avLst/>
            </a:prstGeom>
          </p:spPr>
        </p:pic>
      </p:grpSp>
      <p:grpSp>
        <p:nvGrpSpPr>
          <p:cNvPr name="Group 11" id="11"/>
          <p:cNvGrpSpPr/>
          <p:nvPr/>
        </p:nvGrpSpPr>
        <p:grpSpPr>
          <a:xfrm rot="0">
            <a:off x="11014031" y="2840003"/>
            <a:ext cx="6057048" cy="6199719"/>
            <a:chOff x="0" y="0"/>
            <a:chExt cx="8076064" cy="8266292"/>
          </a:xfrm>
        </p:grpSpPr>
        <p:pic>
          <p:nvPicPr>
            <p:cNvPr name="Picture 12" id="12"/>
            <p:cNvPicPr>
              <a:picLocks noChangeAspect="true"/>
            </p:cNvPicPr>
            <p:nvPr/>
          </p:nvPicPr>
          <p:blipFill>
            <a:blip r:embed="rId5"/>
            <a:srcRect l="29811" t="185" r="22564" b="13155"/>
            <a:stretch>
              <a:fillRect/>
            </a:stretch>
          </p:blipFill>
          <p:spPr>
            <a:xfrm flipH="false" flipV="false">
              <a:off x="0" y="0"/>
              <a:ext cx="8076064" cy="8266292"/>
            </a:xfrm>
            <a:prstGeom prst="rect">
              <a:avLst/>
            </a:prstGeom>
          </p:spPr>
        </p:pic>
      </p:grpSp>
      <p:sp>
        <p:nvSpPr>
          <p:cNvPr name="TextBox 13" id="13"/>
          <p:cNvSpPr txBox="true"/>
          <p:nvPr/>
        </p:nvSpPr>
        <p:spPr>
          <a:xfrm rot="0">
            <a:off x="6100422" y="377137"/>
            <a:ext cx="6087156" cy="144784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OUR FINISHED PROJECTS</a:t>
            </a:r>
          </a:p>
        </p:txBody>
      </p:sp>
      <p:sp>
        <p:nvSpPr>
          <p:cNvPr name="TextBox 14" id="14"/>
          <p:cNvSpPr txBox="true"/>
          <p:nvPr/>
        </p:nvSpPr>
        <p:spPr>
          <a:xfrm rot="0">
            <a:off x="6650124" y="1739225"/>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3D</a:t>
            </a:r>
          </a:p>
        </p:txBody>
      </p:sp>
      <p:sp>
        <p:nvSpPr>
          <p:cNvPr name="Freeform 15" id="15"/>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6">
              <a:alphaModFix amt="30000"/>
            </a:blip>
            <a:stretch>
              <a:fillRect l="0" t="-59181"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grpSp>
        <p:nvGrpSpPr>
          <p:cNvPr name="Group 2" id="2"/>
          <p:cNvGrpSpPr/>
          <p:nvPr/>
        </p:nvGrpSpPr>
        <p:grpSpPr>
          <a:xfrm rot="0">
            <a:off x="1262924" y="2840003"/>
            <a:ext cx="6057048" cy="6199719"/>
            <a:chOff x="0" y="0"/>
            <a:chExt cx="8076064" cy="8266292"/>
          </a:xfrm>
        </p:grpSpPr>
        <p:pic>
          <p:nvPicPr>
            <p:cNvPr name="Picture 3" id="3"/>
            <p:cNvPicPr>
              <a:picLocks noChangeAspect="true"/>
            </p:cNvPicPr>
            <p:nvPr/>
          </p:nvPicPr>
          <p:blipFill>
            <a:blip r:embed="rId2"/>
            <a:srcRect l="26223" t="3150" r="7582" b="59"/>
            <a:stretch>
              <a:fillRect/>
            </a:stretch>
          </p:blipFill>
          <p:spPr>
            <a:xfrm flipH="false" flipV="false">
              <a:off x="0" y="0"/>
              <a:ext cx="8076064" cy="8266292"/>
            </a:xfrm>
            <a:prstGeom prst="rect">
              <a:avLst/>
            </a:prstGeom>
          </p:spPr>
        </p:pic>
      </p:grpSp>
      <p:sp>
        <p:nvSpPr>
          <p:cNvPr name="AutoShape 4" id="4"/>
          <p:cNvSpPr/>
          <p:nvPr/>
        </p:nvSpPr>
        <p:spPr>
          <a:xfrm>
            <a:off x="-620740" y="9239250"/>
            <a:ext cx="19529480" cy="0"/>
          </a:xfrm>
          <a:prstGeom prst="line">
            <a:avLst/>
          </a:prstGeom>
          <a:ln cap="flat" w="19050">
            <a:solidFill>
              <a:srgbClr val="FFB000"/>
            </a:solidFill>
            <a:prstDash val="solid"/>
            <a:headEnd type="none" len="sm" w="sm"/>
            <a:tailEnd type="none" len="sm" w="sm"/>
          </a:ln>
        </p:spPr>
      </p:sp>
      <p:sp>
        <p:nvSpPr>
          <p:cNvPr name="AutoShape 5" id="5"/>
          <p:cNvSpPr/>
          <p:nvPr/>
        </p:nvSpPr>
        <p:spPr>
          <a:xfrm flipH="true">
            <a:off x="1047750" y="-291618"/>
            <a:ext cx="0" cy="10870237"/>
          </a:xfrm>
          <a:prstGeom prst="line">
            <a:avLst/>
          </a:prstGeom>
          <a:ln cap="flat" w="19050">
            <a:solidFill>
              <a:srgbClr val="FFB000"/>
            </a:solidFill>
            <a:prstDash val="solid"/>
            <a:headEnd type="none" len="sm" w="sm"/>
            <a:tailEnd type="none" len="sm" w="sm"/>
          </a:ln>
        </p:spPr>
      </p:sp>
      <p:sp>
        <p:nvSpPr>
          <p:cNvPr name="AutoShape 6" id="6"/>
          <p:cNvSpPr/>
          <p:nvPr/>
        </p:nvSpPr>
        <p:spPr>
          <a:xfrm>
            <a:off x="17259300" y="-291618"/>
            <a:ext cx="0" cy="10870237"/>
          </a:xfrm>
          <a:prstGeom prst="line">
            <a:avLst/>
          </a:prstGeom>
          <a:ln cap="flat" w="19050">
            <a:solidFill>
              <a:srgbClr val="FFB000"/>
            </a:solidFill>
            <a:prstDash val="solid"/>
            <a:headEnd type="none" len="sm" w="sm"/>
            <a:tailEnd type="none" len="sm" w="sm"/>
          </a:ln>
        </p:spPr>
      </p:sp>
      <p:grpSp>
        <p:nvGrpSpPr>
          <p:cNvPr name="Group 7" id="7"/>
          <p:cNvGrpSpPr/>
          <p:nvPr/>
        </p:nvGrpSpPr>
        <p:grpSpPr>
          <a:xfrm rot="0">
            <a:off x="7515234" y="2840003"/>
            <a:ext cx="3303534" cy="3094701"/>
            <a:chOff x="0" y="0"/>
            <a:chExt cx="4404712" cy="4126268"/>
          </a:xfrm>
        </p:grpSpPr>
        <p:pic>
          <p:nvPicPr>
            <p:cNvPr name="Picture 8" id="8"/>
            <p:cNvPicPr>
              <a:picLocks noChangeAspect="true"/>
            </p:cNvPicPr>
            <p:nvPr/>
          </p:nvPicPr>
          <p:blipFill>
            <a:blip r:embed="rId3"/>
            <a:srcRect l="19510" t="3000" r="22230" b="-25"/>
            <a:stretch>
              <a:fillRect/>
            </a:stretch>
          </p:blipFill>
          <p:spPr>
            <a:xfrm flipH="false" flipV="false">
              <a:off x="0" y="0"/>
              <a:ext cx="4404712" cy="4126268"/>
            </a:xfrm>
            <a:prstGeom prst="rect">
              <a:avLst/>
            </a:prstGeom>
          </p:spPr>
        </p:pic>
      </p:grpSp>
      <p:grpSp>
        <p:nvGrpSpPr>
          <p:cNvPr name="Group 9" id="9"/>
          <p:cNvGrpSpPr/>
          <p:nvPr/>
        </p:nvGrpSpPr>
        <p:grpSpPr>
          <a:xfrm rot="0">
            <a:off x="7515234" y="6125204"/>
            <a:ext cx="3303534" cy="2914518"/>
            <a:chOff x="0" y="0"/>
            <a:chExt cx="4404712" cy="3886023"/>
          </a:xfrm>
        </p:grpSpPr>
        <p:pic>
          <p:nvPicPr>
            <p:cNvPr name="Picture 10" id="10"/>
            <p:cNvPicPr>
              <a:picLocks noChangeAspect="true"/>
            </p:cNvPicPr>
            <p:nvPr/>
          </p:nvPicPr>
          <p:blipFill>
            <a:blip r:embed="rId4"/>
            <a:srcRect l="25708" t="5001" r="13705" b="-25"/>
            <a:stretch>
              <a:fillRect/>
            </a:stretch>
          </p:blipFill>
          <p:spPr>
            <a:xfrm flipH="false" flipV="false">
              <a:off x="0" y="0"/>
              <a:ext cx="4404712" cy="3886023"/>
            </a:xfrm>
            <a:prstGeom prst="rect">
              <a:avLst/>
            </a:prstGeom>
          </p:spPr>
        </p:pic>
      </p:grpSp>
      <p:grpSp>
        <p:nvGrpSpPr>
          <p:cNvPr name="Group 11" id="11"/>
          <p:cNvGrpSpPr/>
          <p:nvPr/>
        </p:nvGrpSpPr>
        <p:grpSpPr>
          <a:xfrm rot="0">
            <a:off x="11014031" y="2840003"/>
            <a:ext cx="6057048" cy="6199719"/>
            <a:chOff x="0" y="0"/>
            <a:chExt cx="8076064" cy="8266292"/>
          </a:xfrm>
        </p:grpSpPr>
        <p:pic>
          <p:nvPicPr>
            <p:cNvPr name="Picture 12" id="12"/>
            <p:cNvPicPr>
              <a:picLocks noChangeAspect="true"/>
            </p:cNvPicPr>
            <p:nvPr/>
          </p:nvPicPr>
          <p:blipFill>
            <a:blip r:embed="rId5"/>
            <a:srcRect l="18610" t="9783" r="31110" b="3174"/>
            <a:stretch>
              <a:fillRect/>
            </a:stretch>
          </p:blipFill>
          <p:spPr>
            <a:xfrm flipH="false" flipV="false">
              <a:off x="0" y="0"/>
              <a:ext cx="8076064" cy="8266292"/>
            </a:xfrm>
            <a:prstGeom prst="rect">
              <a:avLst/>
            </a:prstGeom>
          </p:spPr>
        </p:pic>
      </p:grpSp>
      <p:sp>
        <p:nvSpPr>
          <p:cNvPr name="TextBox 13" id="13"/>
          <p:cNvSpPr txBox="true"/>
          <p:nvPr/>
        </p:nvSpPr>
        <p:spPr>
          <a:xfrm rot="0">
            <a:off x="6100422" y="377137"/>
            <a:ext cx="6087156" cy="144784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OUR FINISHED PROJECTS</a:t>
            </a:r>
          </a:p>
        </p:txBody>
      </p:sp>
      <p:sp>
        <p:nvSpPr>
          <p:cNvPr name="TextBox 14" id="14"/>
          <p:cNvSpPr txBox="true"/>
          <p:nvPr/>
        </p:nvSpPr>
        <p:spPr>
          <a:xfrm rot="0">
            <a:off x="6650124" y="1739225"/>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3D</a:t>
            </a:r>
          </a:p>
        </p:txBody>
      </p:sp>
      <p:sp>
        <p:nvSpPr>
          <p:cNvPr name="Freeform 15" id="15"/>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6">
              <a:alphaModFix amt="30000"/>
            </a:blip>
            <a:stretch>
              <a:fillRect l="0" t="-59181"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grpSp>
        <p:nvGrpSpPr>
          <p:cNvPr name="Group 2" id="2"/>
          <p:cNvGrpSpPr/>
          <p:nvPr/>
        </p:nvGrpSpPr>
        <p:grpSpPr>
          <a:xfrm rot="0">
            <a:off x="1262924" y="2840003"/>
            <a:ext cx="6057048" cy="6199719"/>
            <a:chOff x="0" y="0"/>
            <a:chExt cx="8076064" cy="8266292"/>
          </a:xfrm>
        </p:grpSpPr>
        <p:pic>
          <p:nvPicPr>
            <p:cNvPr name="Picture 3" id="3"/>
            <p:cNvPicPr>
              <a:picLocks noChangeAspect="true"/>
            </p:cNvPicPr>
            <p:nvPr/>
          </p:nvPicPr>
          <p:blipFill>
            <a:blip r:embed="rId2"/>
            <a:srcRect l="48" t="11177" r="51244" b="-3"/>
            <a:stretch>
              <a:fillRect/>
            </a:stretch>
          </p:blipFill>
          <p:spPr>
            <a:xfrm flipH="false" flipV="false">
              <a:off x="0" y="0"/>
              <a:ext cx="8076064" cy="8266292"/>
            </a:xfrm>
            <a:prstGeom prst="rect">
              <a:avLst/>
            </a:prstGeom>
          </p:spPr>
        </p:pic>
      </p:grpSp>
      <p:sp>
        <p:nvSpPr>
          <p:cNvPr name="AutoShape 4" id="4"/>
          <p:cNvSpPr/>
          <p:nvPr/>
        </p:nvSpPr>
        <p:spPr>
          <a:xfrm>
            <a:off x="-620740" y="9239250"/>
            <a:ext cx="19529480" cy="0"/>
          </a:xfrm>
          <a:prstGeom prst="line">
            <a:avLst/>
          </a:prstGeom>
          <a:ln cap="flat" w="19050">
            <a:solidFill>
              <a:srgbClr val="FFB000"/>
            </a:solidFill>
            <a:prstDash val="solid"/>
            <a:headEnd type="none" len="sm" w="sm"/>
            <a:tailEnd type="none" len="sm" w="sm"/>
          </a:ln>
        </p:spPr>
      </p:sp>
      <p:sp>
        <p:nvSpPr>
          <p:cNvPr name="AutoShape 5" id="5"/>
          <p:cNvSpPr/>
          <p:nvPr/>
        </p:nvSpPr>
        <p:spPr>
          <a:xfrm flipH="true">
            <a:off x="1047750" y="-291618"/>
            <a:ext cx="0" cy="10870237"/>
          </a:xfrm>
          <a:prstGeom prst="line">
            <a:avLst/>
          </a:prstGeom>
          <a:ln cap="flat" w="19050">
            <a:solidFill>
              <a:srgbClr val="FFB000"/>
            </a:solidFill>
            <a:prstDash val="solid"/>
            <a:headEnd type="none" len="sm" w="sm"/>
            <a:tailEnd type="none" len="sm" w="sm"/>
          </a:ln>
        </p:spPr>
      </p:sp>
      <p:sp>
        <p:nvSpPr>
          <p:cNvPr name="AutoShape 6" id="6"/>
          <p:cNvSpPr/>
          <p:nvPr/>
        </p:nvSpPr>
        <p:spPr>
          <a:xfrm>
            <a:off x="17259300" y="-291618"/>
            <a:ext cx="0" cy="10870237"/>
          </a:xfrm>
          <a:prstGeom prst="line">
            <a:avLst/>
          </a:prstGeom>
          <a:ln cap="flat" w="19050">
            <a:solidFill>
              <a:srgbClr val="FFB000"/>
            </a:solidFill>
            <a:prstDash val="solid"/>
            <a:headEnd type="none" len="sm" w="sm"/>
            <a:tailEnd type="none" len="sm" w="sm"/>
          </a:ln>
        </p:spPr>
      </p:sp>
      <p:grpSp>
        <p:nvGrpSpPr>
          <p:cNvPr name="Group 7" id="7"/>
          <p:cNvGrpSpPr/>
          <p:nvPr/>
        </p:nvGrpSpPr>
        <p:grpSpPr>
          <a:xfrm rot="0">
            <a:off x="7515234" y="2840003"/>
            <a:ext cx="3303534" cy="3094701"/>
            <a:chOff x="0" y="0"/>
            <a:chExt cx="4404712" cy="4126268"/>
          </a:xfrm>
        </p:grpSpPr>
        <p:pic>
          <p:nvPicPr>
            <p:cNvPr name="Picture 8" id="8"/>
            <p:cNvPicPr>
              <a:picLocks noChangeAspect="true"/>
            </p:cNvPicPr>
            <p:nvPr/>
          </p:nvPicPr>
          <p:blipFill>
            <a:blip r:embed="rId3"/>
            <a:srcRect l="29431" t="983" r="10600" b="26"/>
            <a:stretch>
              <a:fillRect/>
            </a:stretch>
          </p:blipFill>
          <p:spPr>
            <a:xfrm flipH="false" flipV="false">
              <a:off x="0" y="0"/>
              <a:ext cx="4404712" cy="4126268"/>
            </a:xfrm>
            <a:prstGeom prst="rect">
              <a:avLst/>
            </a:prstGeom>
          </p:spPr>
        </p:pic>
      </p:grpSp>
      <p:grpSp>
        <p:nvGrpSpPr>
          <p:cNvPr name="Group 9" id="9"/>
          <p:cNvGrpSpPr/>
          <p:nvPr/>
        </p:nvGrpSpPr>
        <p:grpSpPr>
          <a:xfrm rot="0">
            <a:off x="7515234" y="6125204"/>
            <a:ext cx="3303534" cy="2914518"/>
            <a:chOff x="0" y="0"/>
            <a:chExt cx="4404712" cy="3886023"/>
          </a:xfrm>
        </p:grpSpPr>
        <p:pic>
          <p:nvPicPr>
            <p:cNvPr name="Picture 10" id="10"/>
            <p:cNvPicPr>
              <a:picLocks noChangeAspect="true"/>
            </p:cNvPicPr>
            <p:nvPr/>
          </p:nvPicPr>
          <p:blipFill>
            <a:blip r:embed="rId4"/>
            <a:srcRect l="806" t="812" r="42873" b="11631"/>
            <a:stretch>
              <a:fillRect/>
            </a:stretch>
          </p:blipFill>
          <p:spPr>
            <a:xfrm flipH="false" flipV="false">
              <a:off x="0" y="0"/>
              <a:ext cx="4404712" cy="3886023"/>
            </a:xfrm>
            <a:prstGeom prst="rect">
              <a:avLst/>
            </a:prstGeom>
          </p:spPr>
        </p:pic>
      </p:grpSp>
      <p:grpSp>
        <p:nvGrpSpPr>
          <p:cNvPr name="Group 11" id="11"/>
          <p:cNvGrpSpPr/>
          <p:nvPr/>
        </p:nvGrpSpPr>
        <p:grpSpPr>
          <a:xfrm rot="0">
            <a:off x="11014031" y="2840003"/>
            <a:ext cx="6057048" cy="6199719"/>
            <a:chOff x="0" y="0"/>
            <a:chExt cx="8076064" cy="8266292"/>
          </a:xfrm>
        </p:grpSpPr>
        <p:pic>
          <p:nvPicPr>
            <p:cNvPr name="Picture 12" id="12"/>
            <p:cNvPicPr>
              <a:picLocks noChangeAspect="true"/>
            </p:cNvPicPr>
            <p:nvPr/>
          </p:nvPicPr>
          <p:blipFill>
            <a:blip r:embed="rId5"/>
            <a:srcRect l="36035" t="121" r="10880" b="3067"/>
            <a:stretch>
              <a:fillRect/>
            </a:stretch>
          </p:blipFill>
          <p:spPr>
            <a:xfrm flipH="false" flipV="false">
              <a:off x="0" y="0"/>
              <a:ext cx="8076064" cy="8266292"/>
            </a:xfrm>
            <a:prstGeom prst="rect">
              <a:avLst/>
            </a:prstGeom>
          </p:spPr>
        </p:pic>
      </p:grpSp>
      <p:sp>
        <p:nvSpPr>
          <p:cNvPr name="TextBox 13" id="13"/>
          <p:cNvSpPr txBox="true"/>
          <p:nvPr/>
        </p:nvSpPr>
        <p:spPr>
          <a:xfrm rot="0">
            <a:off x="6100422" y="377137"/>
            <a:ext cx="6087156" cy="144784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OUR FINISHED PROJECTS</a:t>
            </a:r>
          </a:p>
        </p:txBody>
      </p:sp>
      <p:sp>
        <p:nvSpPr>
          <p:cNvPr name="TextBox 14" id="14"/>
          <p:cNvSpPr txBox="true"/>
          <p:nvPr/>
        </p:nvSpPr>
        <p:spPr>
          <a:xfrm rot="0">
            <a:off x="6650124" y="1739225"/>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3D </a:t>
            </a:r>
          </a:p>
        </p:txBody>
      </p:sp>
      <p:sp>
        <p:nvSpPr>
          <p:cNvPr name="Freeform 15" id="15"/>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6">
              <a:alphaModFix amt="30000"/>
            </a:blip>
            <a:stretch>
              <a:fillRect l="0" t="-59181"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grpSp>
        <p:nvGrpSpPr>
          <p:cNvPr name="Group 2" id="2"/>
          <p:cNvGrpSpPr/>
          <p:nvPr/>
        </p:nvGrpSpPr>
        <p:grpSpPr>
          <a:xfrm rot="0">
            <a:off x="1262924" y="2840003"/>
            <a:ext cx="6057048" cy="6199719"/>
            <a:chOff x="0" y="0"/>
            <a:chExt cx="8076064" cy="8266292"/>
          </a:xfrm>
        </p:grpSpPr>
        <p:pic>
          <p:nvPicPr>
            <p:cNvPr name="Picture 3" id="3"/>
            <p:cNvPicPr>
              <a:picLocks noChangeAspect="true"/>
            </p:cNvPicPr>
            <p:nvPr/>
          </p:nvPicPr>
          <p:blipFill>
            <a:blip r:embed="rId2"/>
            <a:srcRect l="17626" t="1243" r="0" b="0"/>
            <a:stretch>
              <a:fillRect/>
            </a:stretch>
          </p:blipFill>
          <p:spPr>
            <a:xfrm flipH="false" flipV="false">
              <a:off x="0" y="0"/>
              <a:ext cx="8076064" cy="8266292"/>
            </a:xfrm>
            <a:prstGeom prst="rect">
              <a:avLst/>
            </a:prstGeom>
          </p:spPr>
        </p:pic>
      </p:grpSp>
      <p:grpSp>
        <p:nvGrpSpPr>
          <p:cNvPr name="Group 4" id="4"/>
          <p:cNvGrpSpPr/>
          <p:nvPr/>
        </p:nvGrpSpPr>
        <p:grpSpPr>
          <a:xfrm rot="0">
            <a:off x="7515234" y="2840003"/>
            <a:ext cx="3303534" cy="3094701"/>
            <a:chOff x="0" y="0"/>
            <a:chExt cx="4404712" cy="4126268"/>
          </a:xfrm>
        </p:grpSpPr>
        <p:pic>
          <p:nvPicPr>
            <p:cNvPr name="Picture 5" id="5"/>
            <p:cNvPicPr>
              <a:picLocks noChangeAspect="true"/>
            </p:cNvPicPr>
            <p:nvPr/>
          </p:nvPicPr>
          <p:blipFill>
            <a:blip r:embed="rId3"/>
            <a:srcRect l="1126" t="20256" r="1082" b="28212"/>
            <a:stretch>
              <a:fillRect/>
            </a:stretch>
          </p:blipFill>
          <p:spPr>
            <a:xfrm flipH="false" flipV="false">
              <a:off x="0" y="0"/>
              <a:ext cx="4404712" cy="4126268"/>
            </a:xfrm>
            <a:prstGeom prst="rect">
              <a:avLst/>
            </a:prstGeom>
          </p:spPr>
        </p:pic>
      </p:grpSp>
      <p:grpSp>
        <p:nvGrpSpPr>
          <p:cNvPr name="Group 6" id="6"/>
          <p:cNvGrpSpPr/>
          <p:nvPr/>
        </p:nvGrpSpPr>
        <p:grpSpPr>
          <a:xfrm rot="0">
            <a:off x="7515234" y="6125204"/>
            <a:ext cx="3303534" cy="2914518"/>
            <a:chOff x="0" y="0"/>
            <a:chExt cx="4404712" cy="3886023"/>
          </a:xfrm>
        </p:grpSpPr>
        <p:pic>
          <p:nvPicPr>
            <p:cNvPr name="Picture 7" id="7"/>
            <p:cNvPicPr>
              <a:picLocks noChangeAspect="true"/>
            </p:cNvPicPr>
            <p:nvPr/>
          </p:nvPicPr>
          <p:blipFill>
            <a:blip r:embed="rId4"/>
            <a:srcRect l="140" t="156" r="1137" b="2781"/>
            <a:stretch>
              <a:fillRect/>
            </a:stretch>
          </p:blipFill>
          <p:spPr>
            <a:xfrm flipH="false" flipV="false">
              <a:off x="0" y="0"/>
              <a:ext cx="4404712" cy="3886023"/>
            </a:xfrm>
            <a:prstGeom prst="rect">
              <a:avLst/>
            </a:prstGeom>
          </p:spPr>
        </p:pic>
      </p:grpSp>
      <p:grpSp>
        <p:nvGrpSpPr>
          <p:cNvPr name="Group 8" id="8"/>
          <p:cNvGrpSpPr/>
          <p:nvPr/>
        </p:nvGrpSpPr>
        <p:grpSpPr>
          <a:xfrm rot="0">
            <a:off x="11014031" y="2840003"/>
            <a:ext cx="6057048" cy="6199719"/>
            <a:chOff x="0" y="0"/>
            <a:chExt cx="8076064" cy="8266292"/>
          </a:xfrm>
        </p:grpSpPr>
        <p:pic>
          <p:nvPicPr>
            <p:cNvPr name="Picture 9" id="9"/>
            <p:cNvPicPr>
              <a:picLocks noChangeAspect="true"/>
            </p:cNvPicPr>
            <p:nvPr/>
          </p:nvPicPr>
          <p:blipFill>
            <a:blip r:embed="rId5"/>
            <a:srcRect l="26398" t="116" r="15094" b="5203"/>
            <a:stretch>
              <a:fillRect/>
            </a:stretch>
          </p:blipFill>
          <p:spPr>
            <a:xfrm flipH="false" flipV="false">
              <a:off x="0" y="0"/>
              <a:ext cx="8076064" cy="8266292"/>
            </a:xfrm>
            <a:prstGeom prst="rect">
              <a:avLst/>
            </a:prstGeom>
          </p:spPr>
        </p:pic>
      </p:grpSp>
      <p:sp>
        <p:nvSpPr>
          <p:cNvPr name="TextBox 10" id="10"/>
          <p:cNvSpPr txBox="true"/>
          <p:nvPr/>
        </p:nvSpPr>
        <p:spPr>
          <a:xfrm rot="0">
            <a:off x="6100422" y="377137"/>
            <a:ext cx="6087156" cy="144784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OUR FINISHED PROJECTS</a:t>
            </a:r>
          </a:p>
        </p:txBody>
      </p:sp>
      <p:sp>
        <p:nvSpPr>
          <p:cNvPr name="TextBox 11" id="11"/>
          <p:cNvSpPr txBox="true"/>
          <p:nvPr/>
        </p:nvSpPr>
        <p:spPr>
          <a:xfrm rot="0">
            <a:off x="6650124" y="1739225"/>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Working Drawings(2D)</a:t>
            </a:r>
          </a:p>
        </p:txBody>
      </p:sp>
      <p:sp>
        <p:nvSpPr>
          <p:cNvPr name="Freeform 12" id="12"/>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6">
              <a:alphaModFix amt="30000"/>
            </a:blip>
            <a:stretch>
              <a:fillRect l="0" t="-59181"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sp>
        <p:nvSpPr>
          <p:cNvPr name="AutoShape 2" id="2"/>
          <p:cNvSpPr/>
          <p:nvPr/>
        </p:nvSpPr>
        <p:spPr>
          <a:xfrm>
            <a:off x="-620740" y="9239250"/>
            <a:ext cx="19529480" cy="0"/>
          </a:xfrm>
          <a:prstGeom prst="line">
            <a:avLst/>
          </a:prstGeom>
          <a:ln cap="flat" w="19050">
            <a:solidFill>
              <a:srgbClr val="FFB000"/>
            </a:solidFill>
            <a:prstDash val="solid"/>
            <a:headEnd type="none" len="sm" w="sm"/>
            <a:tailEnd type="none" len="sm" w="sm"/>
          </a:ln>
        </p:spPr>
      </p:sp>
      <p:sp>
        <p:nvSpPr>
          <p:cNvPr name="AutoShape 3" id="3"/>
          <p:cNvSpPr/>
          <p:nvPr/>
        </p:nvSpPr>
        <p:spPr>
          <a:xfrm flipH="true">
            <a:off x="1047750" y="-291618"/>
            <a:ext cx="0" cy="10870237"/>
          </a:xfrm>
          <a:prstGeom prst="line">
            <a:avLst/>
          </a:prstGeom>
          <a:ln cap="flat" w="19050">
            <a:solidFill>
              <a:srgbClr val="FFB000"/>
            </a:solidFill>
            <a:prstDash val="solid"/>
            <a:headEnd type="none" len="sm" w="sm"/>
            <a:tailEnd type="none" len="sm" w="sm"/>
          </a:ln>
        </p:spPr>
      </p:sp>
      <p:sp>
        <p:nvSpPr>
          <p:cNvPr name="AutoShape 4" id="4"/>
          <p:cNvSpPr/>
          <p:nvPr/>
        </p:nvSpPr>
        <p:spPr>
          <a:xfrm>
            <a:off x="17259300" y="-291618"/>
            <a:ext cx="0" cy="10870237"/>
          </a:xfrm>
          <a:prstGeom prst="line">
            <a:avLst/>
          </a:prstGeom>
          <a:ln cap="flat" w="19050">
            <a:solidFill>
              <a:srgbClr val="FFB000"/>
            </a:solidFill>
            <a:prstDash val="solid"/>
            <a:headEnd type="none" len="sm" w="sm"/>
            <a:tailEnd type="none" len="sm" w="sm"/>
          </a:ln>
        </p:spPr>
      </p:sp>
      <p:grpSp>
        <p:nvGrpSpPr>
          <p:cNvPr name="Group 5" id="5"/>
          <p:cNvGrpSpPr/>
          <p:nvPr/>
        </p:nvGrpSpPr>
        <p:grpSpPr>
          <a:xfrm rot="0">
            <a:off x="12427740" y="2840003"/>
            <a:ext cx="4643339" cy="6199719"/>
            <a:chOff x="0" y="0"/>
            <a:chExt cx="6191118" cy="8266292"/>
          </a:xfrm>
        </p:grpSpPr>
        <p:pic>
          <p:nvPicPr>
            <p:cNvPr name="Picture 6" id="6"/>
            <p:cNvPicPr>
              <a:picLocks noChangeAspect="true"/>
            </p:cNvPicPr>
            <p:nvPr/>
          </p:nvPicPr>
          <p:blipFill>
            <a:blip r:embed="rId2"/>
            <a:srcRect l="26220" t="3173" r="33074" b="206"/>
            <a:stretch>
              <a:fillRect/>
            </a:stretch>
          </p:blipFill>
          <p:spPr>
            <a:xfrm flipH="false" flipV="false">
              <a:off x="0" y="0"/>
              <a:ext cx="6191118" cy="8266292"/>
            </a:xfrm>
            <a:prstGeom prst="rect">
              <a:avLst/>
            </a:prstGeom>
          </p:spPr>
        </p:pic>
      </p:grpSp>
      <p:sp>
        <p:nvSpPr>
          <p:cNvPr name="AutoShape 7" id="7"/>
          <p:cNvSpPr/>
          <p:nvPr/>
        </p:nvSpPr>
        <p:spPr>
          <a:xfrm>
            <a:off x="-620740" y="2659028"/>
            <a:ext cx="19529480" cy="0"/>
          </a:xfrm>
          <a:prstGeom prst="line">
            <a:avLst/>
          </a:prstGeom>
          <a:ln cap="flat" w="19050">
            <a:solidFill>
              <a:srgbClr val="FFB000"/>
            </a:solidFill>
            <a:prstDash val="solid"/>
            <a:headEnd type="none" len="sm" w="sm"/>
            <a:tailEnd type="none" len="sm" w="sm"/>
          </a:ln>
        </p:spPr>
      </p:sp>
      <p:grpSp>
        <p:nvGrpSpPr>
          <p:cNvPr name="Group 8" id="8"/>
          <p:cNvGrpSpPr/>
          <p:nvPr/>
        </p:nvGrpSpPr>
        <p:grpSpPr>
          <a:xfrm rot="0">
            <a:off x="7603426" y="2849280"/>
            <a:ext cx="4643339" cy="6199719"/>
            <a:chOff x="0" y="0"/>
            <a:chExt cx="6191118" cy="8266292"/>
          </a:xfrm>
        </p:grpSpPr>
        <p:pic>
          <p:nvPicPr>
            <p:cNvPr name="Picture 9" id="9"/>
            <p:cNvPicPr>
              <a:picLocks noChangeAspect="true"/>
            </p:cNvPicPr>
            <p:nvPr/>
          </p:nvPicPr>
          <p:blipFill>
            <a:blip r:embed="rId3"/>
            <a:srcRect l="57871" t="0" r="0" b="0"/>
            <a:stretch>
              <a:fillRect/>
            </a:stretch>
          </p:blipFill>
          <p:spPr>
            <a:xfrm flipH="false" flipV="false">
              <a:off x="0" y="0"/>
              <a:ext cx="6191118" cy="8266292"/>
            </a:xfrm>
            <a:prstGeom prst="rect">
              <a:avLst/>
            </a:prstGeom>
          </p:spPr>
        </p:pic>
      </p:grpSp>
      <p:sp>
        <p:nvSpPr>
          <p:cNvPr name="TextBox 10" id="10"/>
          <p:cNvSpPr txBox="true"/>
          <p:nvPr/>
        </p:nvSpPr>
        <p:spPr>
          <a:xfrm rot="0">
            <a:off x="6100422" y="1081987"/>
            <a:ext cx="6087156" cy="74299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SERVICES </a:t>
            </a:r>
          </a:p>
        </p:txBody>
      </p:sp>
      <p:sp>
        <p:nvSpPr>
          <p:cNvPr name="TextBox 11" id="11"/>
          <p:cNvSpPr txBox="true"/>
          <p:nvPr/>
        </p:nvSpPr>
        <p:spPr>
          <a:xfrm rot="0">
            <a:off x="6650124" y="1739225"/>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We offer</a:t>
            </a:r>
          </a:p>
        </p:txBody>
      </p:sp>
      <p:sp>
        <p:nvSpPr>
          <p:cNvPr name="TextBox 12" id="12"/>
          <p:cNvSpPr txBox="true"/>
          <p:nvPr/>
        </p:nvSpPr>
        <p:spPr>
          <a:xfrm rot="0">
            <a:off x="2141839" y="3506753"/>
            <a:ext cx="3720348" cy="358013"/>
          </a:xfrm>
          <a:prstGeom prst="rect">
            <a:avLst/>
          </a:prstGeom>
        </p:spPr>
        <p:txBody>
          <a:bodyPr anchor="t" rtlCol="false" tIns="0" lIns="0" bIns="0" rIns="0">
            <a:spAutoFit/>
          </a:bodyPr>
          <a:lstStyle/>
          <a:p>
            <a:pPr algn="l" marL="561342" indent="-280671" lvl="1">
              <a:lnSpc>
                <a:spcPts val="2626"/>
              </a:lnSpc>
              <a:buFont typeface="Arial"/>
              <a:buChar char="•"/>
            </a:pPr>
            <a:r>
              <a:rPr lang="en-US" b="true" sz="2600" spc="-124">
                <a:solidFill>
                  <a:srgbClr val="FFFFF0"/>
                </a:solidFill>
                <a:latin typeface="Lato Bold"/>
                <a:ea typeface="Lato Bold"/>
                <a:cs typeface="Lato Bold"/>
                <a:sym typeface="Lato Bold"/>
              </a:rPr>
              <a:t> SPACE PLANNING</a:t>
            </a:r>
          </a:p>
        </p:txBody>
      </p:sp>
      <p:sp>
        <p:nvSpPr>
          <p:cNvPr name="TextBox 13" id="13"/>
          <p:cNvSpPr txBox="true"/>
          <p:nvPr/>
        </p:nvSpPr>
        <p:spPr>
          <a:xfrm rot="0">
            <a:off x="2141839" y="4254399"/>
            <a:ext cx="4403510" cy="358013"/>
          </a:xfrm>
          <a:prstGeom prst="rect">
            <a:avLst/>
          </a:prstGeom>
        </p:spPr>
        <p:txBody>
          <a:bodyPr anchor="t" rtlCol="false" tIns="0" lIns="0" bIns="0" rIns="0">
            <a:spAutoFit/>
          </a:bodyPr>
          <a:lstStyle/>
          <a:p>
            <a:pPr algn="l" marL="561342" indent="-280671" lvl="1">
              <a:lnSpc>
                <a:spcPts val="2626"/>
              </a:lnSpc>
              <a:buFont typeface="Arial"/>
              <a:buChar char="•"/>
            </a:pPr>
            <a:r>
              <a:rPr lang="en-US" b="true" sz="2600" spc="-124">
                <a:solidFill>
                  <a:srgbClr val="FFFFF0"/>
                </a:solidFill>
                <a:latin typeface="Lato Bold"/>
                <a:ea typeface="Lato Bold"/>
                <a:cs typeface="Lato Bold"/>
                <a:sym typeface="Lato Bold"/>
              </a:rPr>
              <a:t>3D VISUALIZATION </a:t>
            </a:r>
          </a:p>
        </p:txBody>
      </p:sp>
      <p:sp>
        <p:nvSpPr>
          <p:cNvPr name="TextBox 14" id="14"/>
          <p:cNvSpPr txBox="true"/>
          <p:nvPr/>
        </p:nvSpPr>
        <p:spPr>
          <a:xfrm rot="0">
            <a:off x="2141839" y="5002937"/>
            <a:ext cx="4403510" cy="358013"/>
          </a:xfrm>
          <a:prstGeom prst="rect">
            <a:avLst/>
          </a:prstGeom>
        </p:spPr>
        <p:txBody>
          <a:bodyPr anchor="t" rtlCol="false" tIns="0" lIns="0" bIns="0" rIns="0">
            <a:spAutoFit/>
          </a:bodyPr>
          <a:lstStyle/>
          <a:p>
            <a:pPr algn="l" marL="561342" indent="-280671" lvl="1">
              <a:lnSpc>
                <a:spcPts val="2626"/>
              </a:lnSpc>
              <a:buFont typeface="Arial"/>
              <a:buChar char="•"/>
            </a:pPr>
            <a:r>
              <a:rPr lang="en-US" b="true" sz="2600" spc="-124">
                <a:solidFill>
                  <a:srgbClr val="FFFFF0"/>
                </a:solidFill>
                <a:latin typeface="Lato Bold"/>
                <a:ea typeface="Lato Bold"/>
                <a:cs typeface="Lato Bold"/>
                <a:sym typeface="Lato Bold"/>
              </a:rPr>
              <a:t>CUSTOM FURNITURE </a:t>
            </a:r>
          </a:p>
        </p:txBody>
      </p:sp>
      <p:sp>
        <p:nvSpPr>
          <p:cNvPr name="TextBox 15" id="15"/>
          <p:cNvSpPr txBox="true"/>
          <p:nvPr/>
        </p:nvSpPr>
        <p:spPr>
          <a:xfrm rot="0">
            <a:off x="2141839" y="5728711"/>
            <a:ext cx="4403510" cy="358013"/>
          </a:xfrm>
          <a:prstGeom prst="rect">
            <a:avLst/>
          </a:prstGeom>
        </p:spPr>
        <p:txBody>
          <a:bodyPr anchor="t" rtlCol="false" tIns="0" lIns="0" bIns="0" rIns="0">
            <a:spAutoFit/>
          </a:bodyPr>
          <a:lstStyle/>
          <a:p>
            <a:pPr algn="l" marL="561342" indent="-280671" lvl="1">
              <a:lnSpc>
                <a:spcPts val="2626"/>
              </a:lnSpc>
              <a:buFont typeface="Arial"/>
              <a:buChar char="•"/>
            </a:pPr>
            <a:r>
              <a:rPr lang="en-US" b="true" sz="2600" spc="-124">
                <a:solidFill>
                  <a:srgbClr val="FFFFF0"/>
                </a:solidFill>
                <a:latin typeface="Lato Bold"/>
                <a:ea typeface="Lato Bold"/>
                <a:cs typeface="Lato Bold"/>
                <a:sym typeface="Lato Bold"/>
              </a:rPr>
              <a:t>LIGHTING PLANS</a:t>
            </a:r>
          </a:p>
        </p:txBody>
      </p:sp>
      <p:sp>
        <p:nvSpPr>
          <p:cNvPr name="TextBox 16" id="16"/>
          <p:cNvSpPr txBox="true"/>
          <p:nvPr/>
        </p:nvSpPr>
        <p:spPr>
          <a:xfrm rot="0">
            <a:off x="2141839" y="6310561"/>
            <a:ext cx="4403510" cy="691388"/>
          </a:xfrm>
          <a:prstGeom prst="rect">
            <a:avLst/>
          </a:prstGeom>
        </p:spPr>
        <p:txBody>
          <a:bodyPr anchor="t" rtlCol="false" tIns="0" lIns="0" bIns="0" rIns="0">
            <a:spAutoFit/>
          </a:bodyPr>
          <a:lstStyle/>
          <a:p>
            <a:pPr algn="l" marL="561342" indent="-280671" lvl="1">
              <a:lnSpc>
                <a:spcPts val="2626"/>
              </a:lnSpc>
              <a:buFont typeface="Arial"/>
              <a:buChar char="•"/>
            </a:pPr>
            <a:r>
              <a:rPr lang="en-US" b="true" sz="2600" spc="-124">
                <a:solidFill>
                  <a:srgbClr val="FFFFF0"/>
                </a:solidFill>
                <a:latin typeface="Lato Bold"/>
                <a:ea typeface="Lato Bold"/>
                <a:cs typeface="Lato Bold"/>
                <a:sym typeface="Lato Bold"/>
              </a:rPr>
              <a:t>COLOR AND MATERIAL CHOICES</a:t>
            </a:r>
          </a:p>
        </p:txBody>
      </p:sp>
      <p:sp>
        <p:nvSpPr>
          <p:cNvPr name="TextBox 17" id="17"/>
          <p:cNvSpPr txBox="true"/>
          <p:nvPr/>
        </p:nvSpPr>
        <p:spPr>
          <a:xfrm rot="0">
            <a:off x="2141839" y="7397237"/>
            <a:ext cx="4403510" cy="358013"/>
          </a:xfrm>
          <a:prstGeom prst="rect">
            <a:avLst/>
          </a:prstGeom>
        </p:spPr>
        <p:txBody>
          <a:bodyPr anchor="t" rtlCol="false" tIns="0" lIns="0" bIns="0" rIns="0">
            <a:spAutoFit/>
          </a:bodyPr>
          <a:lstStyle/>
          <a:p>
            <a:pPr algn="l" marL="561342" indent="-280671" lvl="1">
              <a:lnSpc>
                <a:spcPts val="2626"/>
              </a:lnSpc>
              <a:buFont typeface="Arial"/>
              <a:buChar char="•"/>
            </a:pPr>
            <a:r>
              <a:rPr lang="en-US" b="true" sz="2600" spc="-124">
                <a:solidFill>
                  <a:srgbClr val="FFFFF0"/>
                </a:solidFill>
                <a:latin typeface="Lato Bold"/>
                <a:ea typeface="Lato Bold"/>
                <a:cs typeface="Lato Bold"/>
                <a:sym typeface="Lato Bold"/>
              </a:rPr>
              <a:t>WORKING DRAWINGS</a:t>
            </a:r>
          </a:p>
        </p:txBody>
      </p:sp>
      <p:sp>
        <p:nvSpPr>
          <p:cNvPr name="TextBox 18" id="18"/>
          <p:cNvSpPr txBox="true"/>
          <p:nvPr/>
        </p:nvSpPr>
        <p:spPr>
          <a:xfrm rot="0">
            <a:off x="2141839" y="8126725"/>
            <a:ext cx="4403510" cy="358013"/>
          </a:xfrm>
          <a:prstGeom prst="rect">
            <a:avLst/>
          </a:prstGeom>
        </p:spPr>
        <p:txBody>
          <a:bodyPr anchor="t" rtlCol="false" tIns="0" lIns="0" bIns="0" rIns="0">
            <a:spAutoFit/>
          </a:bodyPr>
          <a:lstStyle/>
          <a:p>
            <a:pPr algn="l" marL="561342" indent="-280671" lvl="1">
              <a:lnSpc>
                <a:spcPts val="2626"/>
              </a:lnSpc>
              <a:buFont typeface="Arial"/>
              <a:buChar char="•"/>
            </a:pPr>
            <a:r>
              <a:rPr lang="en-US" b="true" sz="2600" spc="-124">
                <a:solidFill>
                  <a:srgbClr val="FFFFF0"/>
                </a:solidFill>
                <a:latin typeface="Lato Bold"/>
                <a:ea typeface="Lato Bold"/>
                <a:cs typeface="Lato Bold"/>
                <a:sym typeface="Lato Bold"/>
              </a:rPr>
              <a:t>RENOVATIONS</a:t>
            </a:r>
          </a:p>
        </p:txBody>
      </p:sp>
      <p:sp>
        <p:nvSpPr>
          <p:cNvPr name="Freeform 19" id="19"/>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4">
              <a:alphaModFix amt="30000"/>
            </a:blip>
            <a:stretch>
              <a:fillRect l="0" t="-59181"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grpSp>
        <p:nvGrpSpPr>
          <p:cNvPr name="Group 2" id="2"/>
          <p:cNvGrpSpPr/>
          <p:nvPr/>
        </p:nvGrpSpPr>
        <p:grpSpPr>
          <a:xfrm rot="0">
            <a:off x="1216999" y="1205518"/>
            <a:ext cx="3638082" cy="7875963"/>
            <a:chOff x="0" y="0"/>
            <a:chExt cx="4850776" cy="10501284"/>
          </a:xfrm>
        </p:grpSpPr>
        <p:pic>
          <p:nvPicPr>
            <p:cNvPr name="Picture 3" id="3"/>
            <p:cNvPicPr>
              <a:picLocks noChangeAspect="true"/>
            </p:cNvPicPr>
            <p:nvPr/>
          </p:nvPicPr>
          <p:blipFill>
            <a:blip r:embed="rId2"/>
            <a:srcRect l="9963" t="0" r="59203" b="0"/>
            <a:stretch>
              <a:fillRect/>
            </a:stretch>
          </p:blipFill>
          <p:spPr>
            <a:xfrm flipH="false" flipV="false">
              <a:off x="0" y="0"/>
              <a:ext cx="4850776" cy="10501284"/>
            </a:xfrm>
            <a:prstGeom prst="rect">
              <a:avLst/>
            </a:prstGeom>
          </p:spPr>
        </p:pic>
      </p:grpSp>
      <p:sp>
        <p:nvSpPr>
          <p:cNvPr name="AutoShape 4" id="4"/>
          <p:cNvSpPr/>
          <p:nvPr/>
        </p:nvSpPr>
        <p:spPr>
          <a:xfrm flipV="true">
            <a:off x="-620740" y="1047750"/>
            <a:ext cx="19529480" cy="0"/>
          </a:xfrm>
          <a:prstGeom prst="line">
            <a:avLst/>
          </a:prstGeom>
          <a:ln cap="flat" w="19050">
            <a:solidFill>
              <a:srgbClr val="FFB000"/>
            </a:solidFill>
            <a:prstDash val="solid"/>
            <a:headEnd type="none" len="sm" w="sm"/>
            <a:tailEnd type="none" len="sm" w="sm"/>
          </a:ln>
        </p:spPr>
      </p:sp>
      <p:sp>
        <p:nvSpPr>
          <p:cNvPr name="AutoShape 5" id="5"/>
          <p:cNvSpPr/>
          <p:nvPr/>
        </p:nvSpPr>
        <p:spPr>
          <a:xfrm>
            <a:off x="-620740" y="9239250"/>
            <a:ext cx="19529480" cy="0"/>
          </a:xfrm>
          <a:prstGeom prst="line">
            <a:avLst/>
          </a:prstGeom>
          <a:ln cap="flat" w="19050">
            <a:solidFill>
              <a:srgbClr val="FFB000"/>
            </a:solidFill>
            <a:prstDash val="solid"/>
            <a:headEnd type="none" len="sm" w="sm"/>
            <a:tailEnd type="none" len="sm" w="sm"/>
          </a:ln>
        </p:spPr>
      </p:sp>
      <p:sp>
        <p:nvSpPr>
          <p:cNvPr name="AutoShape 6" id="6"/>
          <p:cNvSpPr/>
          <p:nvPr/>
        </p:nvSpPr>
        <p:spPr>
          <a:xfrm flipH="true">
            <a:off x="1047750" y="-291618"/>
            <a:ext cx="0" cy="10870237"/>
          </a:xfrm>
          <a:prstGeom prst="line">
            <a:avLst/>
          </a:prstGeom>
          <a:ln cap="flat" w="19050">
            <a:solidFill>
              <a:srgbClr val="FFB000"/>
            </a:solidFill>
            <a:prstDash val="solid"/>
            <a:headEnd type="none" len="sm" w="sm"/>
            <a:tailEnd type="none" len="sm" w="sm"/>
          </a:ln>
        </p:spPr>
      </p:sp>
      <p:sp>
        <p:nvSpPr>
          <p:cNvPr name="AutoShape 7" id="7"/>
          <p:cNvSpPr/>
          <p:nvPr/>
        </p:nvSpPr>
        <p:spPr>
          <a:xfrm>
            <a:off x="17259300" y="-291618"/>
            <a:ext cx="0" cy="10870237"/>
          </a:xfrm>
          <a:prstGeom prst="line">
            <a:avLst/>
          </a:prstGeom>
          <a:ln cap="flat" w="19050">
            <a:solidFill>
              <a:srgbClr val="FFB000"/>
            </a:solidFill>
            <a:prstDash val="solid"/>
            <a:headEnd type="none" len="sm" w="sm"/>
            <a:tailEnd type="none" len="sm" w="sm"/>
          </a:ln>
        </p:spPr>
      </p:sp>
      <p:sp>
        <p:nvSpPr>
          <p:cNvPr name="TextBox 8" id="8"/>
          <p:cNvSpPr txBox="true"/>
          <p:nvPr/>
        </p:nvSpPr>
        <p:spPr>
          <a:xfrm rot="0">
            <a:off x="6100422" y="2758529"/>
            <a:ext cx="6087156" cy="742994"/>
          </a:xfrm>
          <a:prstGeom prst="rect">
            <a:avLst/>
          </a:prstGeom>
        </p:spPr>
        <p:txBody>
          <a:bodyPr anchor="t" rtlCol="false" tIns="0" lIns="0" bIns="0" rIns="0">
            <a:spAutoFit/>
          </a:bodyPr>
          <a:lstStyle/>
          <a:p>
            <a:pPr algn="ctr">
              <a:lnSpc>
                <a:spcPts val="5583"/>
              </a:lnSpc>
            </a:pPr>
            <a:r>
              <a:rPr lang="en-US" b="true" sz="5528" spc="-265">
                <a:solidFill>
                  <a:srgbClr val="FFFFF0"/>
                </a:solidFill>
                <a:latin typeface="Lato Bold"/>
                <a:ea typeface="Lato Bold"/>
                <a:cs typeface="Lato Bold"/>
                <a:sym typeface="Lato Bold"/>
              </a:rPr>
              <a:t>REACH OUT</a:t>
            </a:r>
          </a:p>
        </p:txBody>
      </p:sp>
      <p:sp>
        <p:nvSpPr>
          <p:cNvPr name="TextBox 9" id="9"/>
          <p:cNvSpPr txBox="true"/>
          <p:nvPr/>
        </p:nvSpPr>
        <p:spPr>
          <a:xfrm rot="0">
            <a:off x="6650124" y="3511048"/>
            <a:ext cx="4987753" cy="457835"/>
          </a:xfrm>
          <a:prstGeom prst="rect">
            <a:avLst/>
          </a:prstGeom>
        </p:spPr>
        <p:txBody>
          <a:bodyPr anchor="t" rtlCol="false" tIns="0" lIns="0" bIns="0" rIns="0">
            <a:spAutoFit/>
          </a:bodyPr>
          <a:lstStyle/>
          <a:p>
            <a:pPr algn="ctr">
              <a:lnSpc>
                <a:spcPts val="3564"/>
              </a:lnSpc>
            </a:pPr>
            <a:r>
              <a:rPr lang="en-US" sz="3099" i="true">
                <a:solidFill>
                  <a:srgbClr val="FFFFF0"/>
                </a:solidFill>
                <a:latin typeface="Playfair Display Italics"/>
                <a:ea typeface="Playfair Display Italics"/>
                <a:cs typeface="Playfair Display Italics"/>
                <a:sym typeface="Playfair Display Italics"/>
              </a:rPr>
              <a:t>Today</a:t>
            </a:r>
          </a:p>
        </p:txBody>
      </p:sp>
      <p:grpSp>
        <p:nvGrpSpPr>
          <p:cNvPr name="Group 10" id="10"/>
          <p:cNvGrpSpPr/>
          <p:nvPr/>
        </p:nvGrpSpPr>
        <p:grpSpPr>
          <a:xfrm rot="0">
            <a:off x="13454404" y="1205518"/>
            <a:ext cx="3638082" cy="7875963"/>
            <a:chOff x="0" y="0"/>
            <a:chExt cx="4850776" cy="10501284"/>
          </a:xfrm>
        </p:grpSpPr>
        <p:pic>
          <p:nvPicPr>
            <p:cNvPr name="Picture 11" id="11"/>
            <p:cNvPicPr>
              <a:picLocks noChangeAspect="true"/>
            </p:cNvPicPr>
            <p:nvPr/>
          </p:nvPicPr>
          <p:blipFill>
            <a:blip r:embed="rId2"/>
            <a:srcRect l="58704" t="0" r="10461" b="0"/>
            <a:stretch>
              <a:fillRect/>
            </a:stretch>
          </p:blipFill>
          <p:spPr>
            <a:xfrm flipH="false" flipV="false">
              <a:off x="0" y="0"/>
              <a:ext cx="4850776" cy="10501284"/>
            </a:xfrm>
            <a:prstGeom prst="rect">
              <a:avLst/>
            </a:prstGeom>
          </p:spPr>
        </p:pic>
      </p:grpSp>
      <p:sp>
        <p:nvSpPr>
          <p:cNvPr name="AutoShape 12" id="12"/>
          <p:cNvSpPr/>
          <p:nvPr/>
        </p:nvSpPr>
        <p:spPr>
          <a:xfrm flipH="true">
            <a:off x="5022432" y="-291618"/>
            <a:ext cx="0" cy="10870237"/>
          </a:xfrm>
          <a:prstGeom prst="line">
            <a:avLst/>
          </a:prstGeom>
          <a:ln cap="flat" w="19050">
            <a:solidFill>
              <a:srgbClr val="FFB000"/>
            </a:solidFill>
            <a:prstDash val="solid"/>
            <a:headEnd type="none" len="sm" w="sm"/>
            <a:tailEnd type="none" len="sm" w="sm"/>
          </a:ln>
        </p:spPr>
      </p:sp>
      <p:sp>
        <p:nvSpPr>
          <p:cNvPr name="AutoShape 13" id="13"/>
          <p:cNvSpPr/>
          <p:nvPr/>
        </p:nvSpPr>
        <p:spPr>
          <a:xfrm>
            <a:off x="13295134" y="-291618"/>
            <a:ext cx="0" cy="10870237"/>
          </a:xfrm>
          <a:prstGeom prst="line">
            <a:avLst/>
          </a:prstGeom>
          <a:ln cap="flat" w="19050">
            <a:solidFill>
              <a:srgbClr val="FFB000"/>
            </a:solidFill>
            <a:prstDash val="solid"/>
            <a:headEnd type="none" len="sm" w="sm"/>
            <a:tailEnd type="none" len="sm" w="sm"/>
          </a:ln>
        </p:spPr>
      </p:sp>
      <p:sp>
        <p:nvSpPr>
          <p:cNvPr name="TextBox 14" id="14"/>
          <p:cNvSpPr txBox="true"/>
          <p:nvPr/>
        </p:nvSpPr>
        <p:spPr>
          <a:xfrm rot="0">
            <a:off x="7437480" y="5129276"/>
            <a:ext cx="3413040" cy="300736"/>
          </a:xfrm>
          <a:prstGeom prst="rect">
            <a:avLst/>
          </a:prstGeom>
        </p:spPr>
        <p:txBody>
          <a:bodyPr anchor="t" rtlCol="false" tIns="0" lIns="0" bIns="0" rIns="0">
            <a:spAutoFit/>
          </a:bodyPr>
          <a:lstStyle/>
          <a:p>
            <a:pPr algn="ctr">
              <a:lnSpc>
                <a:spcPts val="2221"/>
              </a:lnSpc>
            </a:pPr>
            <a:r>
              <a:rPr lang="en-US" sz="2199" spc="-105">
                <a:solidFill>
                  <a:srgbClr val="FFFFF0"/>
                </a:solidFill>
                <a:latin typeface="Lato"/>
                <a:ea typeface="Lato"/>
                <a:cs typeface="Lato"/>
                <a:sym typeface="Lato"/>
              </a:rPr>
              <a:t> 0333-9333978</a:t>
            </a:r>
          </a:p>
        </p:txBody>
      </p:sp>
      <p:sp>
        <p:nvSpPr>
          <p:cNvPr name="TextBox 15" id="15"/>
          <p:cNvSpPr txBox="true"/>
          <p:nvPr/>
        </p:nvSpPr>
        <p:spPr>
          <a:xfrm rot="0">
            <a:off x="6300898" y="5889347"/>
            <a:ext cx="5686204" cy="300736"/>
          </a:xfrm>
          <a:prstGeom prst="rect">
            <a:avLst/>
          </a:prstGeom>
        </p:spPr>
        <p:txBody>
          <a:bodyPr anchor="t" rtlCol="false" tIns="0" lIns="0" bIns="0" rIns="0">
            <a:spAutoFit/>
          </a:bodyPr>
          <a:lstStyle/>
          <a:p>
            <a:pPr algn="ctr">
              <a:lnSpc>
                <a:spcPts val="2221"/>
              </a:lnSpc>
            </a:pPr>
            <a:r>
              <a:rPr lang="en-US" sz="2199" spc="-105" u="sng">
                <a:solidFill>
                  <a:srgbClr val="FFFFF0"/>
                </a:solidFill>
                <a:latin typeface="Lato"/>
                <a:ea typeface="Lato"/>
                <a:cs typeface="Lato"/>
                <a:sym typeface="Lato"/>
              </a:rPr>
              <a:t>https://visualiseinteriors.com/</a:t>
            </a:r>
          </a:p>
        </p:txBody>
      </p:sp>
      <p:sp>
        <p:nvSpPr>
          <p:cNvPr name="TextBox 16" id="16"/>
          <p:cNvSpPr txBox="true"/>
          <p:nvPr/>
        </p:nvSpPr>
        <p:spPr>
          <a:xfrm rot="0">
            <a:off x="6383431" y="7055676"/>
            <a:ext cx="5686204" cy="576961"/>
          </a:xfrm>
          <a:prstGeom prst="rect">
            <a:avLst/>
          </a:prstGeom>
        </p:spPr>
        <p:txBody>
          <a:bodyPr anchor="t" rtlCol="false" tIns="0" lIns="0" bIns="0" rIns="0">
            <a:spAutoFit/>
          </a:bodyPr>
          <a:lstStyle/>
          <a:p>
            <a:pPr algn="ctr">
              <a:lnSpc>
                <a:spcPts val="2221"/>
              </a:lnSpc>
            </a:pPr>
            <a:r>
              <a:rPr lang="en-US" sz="2199" spc="-105">
                <a:solidFill>
                  <a:srgbClr val="FFFFF0"/>
                </a:solidFill>
                <a:latin typeface="Lato"/>
                <a:ea typeface="Lato"/>
                <a:cs typeface="Lato"/>
                <a:sym typeface="Lato"/>
              </a:rPr>
              <a:t>Deans Trade center, Peshawar Cantonment, Peshawar</a:t>
            </a:r>
          </a:p>
        </p:txBody>
      </p:sp>
      <p:sp>
        <p:nvSpPr>
          <p:cNvPr name="Freeform 17" id="17"/>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3">
              <a:alphaModFix amt="30000"/>
            </a:blip>
            <a:stretch>
              <a:fillRect l="0" t="-59181"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E2E2E"/>
        </a:solidFill>
      </p:bgPr>
    </p:bg>
    <p:spTree>
      <p:nvGrpSpPr>
        <p:cNvPr id="1" name=""/>
        <p:cNvGrpSpPr/>
        <p:nvPr/>
      </p:nvGrpSpPr>
      <p:grpSpPr>
        <a:xfrm>
          <a:off x="0" y="0"/>
          <a:ext cx="0" cy="0"/>
          <a:chOff x="0" y="0"/>
          <a:chExt cx="0" cy="0"/>
        </a:xfrm>
      </p:grpSpPr>
      <p:sp>
        <p:nvSpPr>
          <p:cNvPr name="TextBox 2" id="2"/>
          <p:cNvSpPr txBox="true"/>
          <p:nvPr/>
        </p:nvSpPr>
        <p:spPr>
          <a:xfrm rot="0">
            <a:off x="3280863" y="4372480"/>
            <a:ext cx="11726274" cy="940435"/>
          </a:xfrm>
          <a:prstGeom prst="rect">
            <a:avLst/>
          </a:prstGeom>
        </p:spPr>
        <p:txBody>
          <a:bodyPr anchor="t" rtlCol="false" tIns="0" lIns="0" bIns="0" rIns="0">
            <a:spAutoFit/>
          </a:bodyPr>
          <a:lstStyle/>
          <a:p>
            <a:pPr algn="ctr">
              <a:lnSpc>
                <a:spcPts val="7069"/>
              </a:lnSpc>
            </a:pPr>
            <a:r>
              <a:rPr lang="en-US" b="true" sz="6999" spc="-335">
                <a:solidFill>
                  <a:srgbClr val="FFFFF0"/>
                </a:solidFill>
                <a:latin typeface="Lato Bold"/>
                <a:ea typeface="Lato Bold"/>
                <a:cs typeface="Lato Bold"/>
                <a:sym typeface="Lato Bold"/>
              </a:rPr>
              <a:t>THANK YOU</a:t>
            </a:r>
          </a:p>
        </p:txBody>
      </p:sp>
      <p:sp>
        <p:nvSpPr>
          <p:cNvPr name="TextBox 3" id="3"/>
          <p:cNvSpPr txBox="true"/>
          <p:nvPr/>
        </p:nvSpPr>
        <p:spPr>
          <a:xfrm rot="0">
            <a:off x="5986121" y="5598665"/>
            <a:ext cx="6315757" cy="517525"/>
          </a:xfrm>
          <a:prstGeom prst="rect">
            <a:avLst/>
          </a:prstGeom>
        </p:spPr>
        <p:txBody>
          <a:bodyPr anchor="t" rtlCol="false" tIns="0" lIns="0" bIns="0" rIns="0">
            <a:spAutoFit/>
          </a:bodyPr>
          <a:lstStyle/>
          <a:p>
            <a:pPr algn="ctr">
              <a:lnSpc>
                <a:spcPts val="4025"/>
              </a:lnSpc>
            </a:pPr>
            <a:r>
              <a:rPr lang="en-US" sz="3500" i="true" u="sng">
                <a:solidFill>
                  <a:srgbClr val="FFFFF0"/>
                </a:solidFill>
                <a:latin typeface="Playfair Display Italics"/>
                <a:ea typeface="Playfair Display Italics"/>
                <a:cs typeface="Playfair Display Italics"/>
                <a:sym typeface="Playfair Display Italics"/>
              </a:rPr>
              <a:t>https://visualiseinteriors.com/</a:t>
            </a:r>
          </a:p>
        </p:txBody>
      </p:sp>
      <p:sp>
        <p:nvSpPr>
          <p:cNvPr name="Freeform 4" id="4"/>
          <p:cNvSpPr/>
          <p:nvPr/>
        </p:nvSpPr>
        <p:spPr>
          <a:xfrm flipH="false" flipV="false" rot="0">
            <a:off x="13454404" y="9108636"/>
            <a:ext cx="4679872" cy="2939966"/>
          </a:xfrm>
          <a:custGeom>
            <a:avLst/>
            <a:gdLst/>
            <a:ahLst/>
            <a:cxnLst/>
            <a:rect r="r" b="b" t="t" l="l"/>
            <a:pathLst>
              <a:path h="2939966" w="4679872">
                <a:moveTo>
                  <a:pt x="0" y="0"/>
                </a:moveTo>
                <a:lnTo>
                  <a:pt x="4679871" y="0"/>
                </a:lnTo>
                <a:lnTo>
                  <a:pt x="4679871" y="2939965"/>
                </a:lnTo>
                <a:lnTo>
                  <a:pt x="0" y="2939965"/>
                </a:lnTo>
                <a:lnTo>
                  <a:pt x="0" y="0"/>
                </a:lnTo>
                <a:close/>
              </a:path>
            </a:pathLst>
          </a:custGeom>
          <a:blipFill>
            <a:blip r:embed="rId2">
              <a:alphaModFix amt="30000"/>
            </a:blip>
            <a:stretch>
              <a:fillRect l="0" t="-59181"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DAGz-4G157U</dc:identifier>
  <dcterms:modified xsi:type="dcterms:W3CDTF">2011-08-01T06:04:30Z</dcterms:modified>
  <cp:revision>1</cp:revision>
  <dc:title>Grey Beige Minimalist Classy Interior Design Company Presentation</dc:title>
</cp:coreProperties>
</file>